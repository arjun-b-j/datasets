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6.xml"/><Relationship Id="rId22" Type="http://schemas.openxmlformats.org/officeDocument/2006/relationships/font" Target="fonts/Inter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3205937af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3205937a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3205937a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b3205937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3205937af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b3205937af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21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5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11" Type="http://schemas.openxmlformats.org/officeDocument/2006/relationships/image" Target="../media/image30.png"/><Relationship Id="rId10" Type="http://schemas.openxmlformats.org/officeDocument/2006/relationships/image" Target="../media/image20.png"/><Relationship Id="rId9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27.png"/><Relationship Id="rId5" Type="http://schemas.openxmlformats.org/officeDocument/2006/relationships/image" Target="../media/image35.png"/><Relationship Id="rId6" Type="http://schemas.openxmlformats.org/officeDocument/2006/relationships/image" Target="../media/image29.png"/><Relationship Id="rId7" Type="http://schemas.openxmlformats.org/officeDocument/2006/relationships/image" Target="../media/image66.png"/><Relationship Id="rId8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10" Type="http://schemas.openxmlformats.org/officeDocument/2006/relationships/image" Target="../media/image42.png"/><Relationship Id="rId9" Type="http://schemas.openxmlformats.org/officeDocument/2006/relationships/image" Target="../media/image32.png"/><Relationship Id="rId5" Type="http://schemas.openxmlformats.org/officeDocument/2006/relationships/image" Target="../media/image37.png"/><Relationship Id="rId6" Type="http://schemas.openxmlformats.org/officeDocument/2006/relationships/image" Target="../media/image26.png"/><Relationship Id="rId7" Type="http://schemas.openxmlformats.org/officeDocument/2006/relationships/image" Target="../media/image54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11" Type="http://schemas.openxmlformats.org/officeDocument/2006/relationships/image" Target="../media/image57.png"/><Relationship Id="rId10" Type="http://schemas.openxmlformats.org/officeDocument/2006/relationships/image" Target="../media/image45.png"/><Relationship Id="rId9" Type="http://schemas.openxmlformats.org/officeDocument/2006/relationships/image" Target="../media/image52.png"/><Relationship Id="rId5" Type="http://schemas.openxmlformats.org/officeDocument/2006/relationships/image" Target="../media/image28.png"/><Relationship Id="rId6" Type="http://schemas.openxmlformats.org/officeDocument/2006/relationships/image" Target="../media/image43.png"/><Relationship Id="rId7" Type="http://schemas.openxmlformats.org/officeDocument/2006/relationships/image" Target="../media/image48.png"/><Relationship Id="rId8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10" Type="http://schemas.openxmlformats.org/officeDocument/2006/relationships/image" Target="../media/image34.png"/><Relationship Id="rId9" Type="http://schemas.openxmlformats.org/officeDocument/2006/relationships/image" Target="../media/image44.png"/><Relationship Id="rId5" Type="http://schemas.openxmlformats.org/officeDocument/2006/relationships/image" Target="../media/image19.png"/><Relationship Id="rId6" Type="http://schemas.openxmlformats.org/officeDocument/2006/relationships/image" Target="../media/image46.png"/><Relationship Id="rId7" Type="http://schemas.openxmlformats.org/officeDocument/2006/relationships/image" Target="../media/image36.png"/><Relationship Id="rId8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11" Type="http://schemas.openxmlformats.org/officeDocument/2006/relationships/image" Target="../media/image49.png"/><Relationship Id="rId10" Type="http://schemas.openxmlformats.org/officeDocument/2006/relationships/image" Target="../media/image58.png"/><Relationship Id="rId9" Type="http://schemas.openxmlformats.org/officeDocument/2006/relationships/image" Target="../media/image53.png"/><Relationship Id="rId5" Type="http://schemas.openxmlformats.org/officeDocument/2006/relationships/image" Target="../media/image55.png"/><Relationship Id="rId6" Type="http://schemas.openxmlformats.org/officeDocument/2006/relationships/image" Target="../media/image50.png"/><Relationship Id="rId7" Type="http://schemas.openxmlformats.org/officeDocument/2006/relationships/image" Target="../media/image56.png"/><Relationship Id="rId8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11" Type="http://schemas.openxmlformats.org/officeDocument/2006/relationships/image" Target="../media/image65.png"/><Relationship Id="rId10" Type="http://schemas.openxmlformats.org/officeDocument/2006/relationships/image" Target="../media/image63.png"/><Relationship Id="rId9" Type="http://schemas.openxmlformats.org/officeDocument/2006/relationships/image" Target="../media/image60.png"/><Relationship Id="rId5" Type="http://schemas.openxmlformats.org/officeDocument/2006/relationships/image" Target="../media/image64.png"/><Relationship Id="rId6" Type="http://schemas.openxmlformats.org/officeDocument/2006/relationships/image" Target="../media/image62.png"/><Relationship Id="rId7" Type="http://schemas.openxmlformats.org/officeDocument/2006/relationships/image" Target="../media/image51.png"/><Relationship Id="rId8" Type="http://schemas.openxmlformats.org/officeDocument/2006/relationships/image" Target="../media/image5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49720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7813" y="3324225"/>
            <a:ext cx="1114425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65389" y="3324225"/>
            <a:ext cx="971550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rPr>
              <a:t>The Evolution: Chatbots vs. Agents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381750" y="2338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Standard LLMs (Passive):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Stateless Q&amp;A engines. Limited by static training data. They only predict text.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381750" y="3100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Gen AI Agents (Active):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Paradigm shift to systems that "do." Stateful and capable of complex reasoning.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81750" y="3862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Tool Use: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Agents use "hands" (APIs, SQL, Web) to execute actions in the real world.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81750" y="4624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Reasoning Loop: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Observes, acts, and iterates until the goal is achieved (ReAct).</a:t>
            </a:r>
            <a:endParaRPr/>
          </a:p>
        </p:txBody>
      </p:sp>
      <p:pic>
        <p:nvPicPr>
          <p:cNvPr descr="image.png" id="94" name="Google Shape;9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76413" y="370998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6096000" y="2309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096000" y="3071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096000" y="3833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6096000" y="4595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99" name="Google Shape;9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20725" y="34861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1482625" y="4095750"/>
            <a:ext cx="3048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(Talk)</a:t>
            </a:r>
            <a:endParaRPr/>
          </a:p>
        </p:txBody>
      </p:sp>
      <p:pic>
        <p:nvPicPr>
          <p:cNvPr descr="image.png" id="101" name="Google Shape;10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08289" y="348615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4436864" y="4095750"/>
            <a:ext cx="2286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rPr>
              <a:t>(Do)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49720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8775" y="2166937"/>
            <a:ext cx="285750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81275" y="3052762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rPr>
              <a:t>Orchestration: LangGraph Concept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2457450" y="5081587"/>
            <a:ext cx="1200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rPr>
              <a:t>Cyclic Graph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381750" y="2338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Beyond Linear Chains: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Replaces brittle DAGs (A → B → C) with robust cycles.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381750" y="3100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Cyclic Cognition: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Loops enable human-like problem solving and re-visiting steps.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381750" y="3862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Self-Correction: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If a step fails, the agent "loops back" to retry or adjust strategy.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381750" y="4624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Persistence: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Maintains a global state object, accumulating context over time.</a:t>
            </a:r>
            <a:endParaRPr/>
          </a:p>
        </p:txBody>
      </p:sp>
      <p:pic>
        <p:nvPicPr>
          <p:cNvPr descr="image.png" id="118" name="Google Shape;11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43225" y="19954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43225" y="48339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6096000" y="2309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096000" y="3071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096000" y="3833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096000" y="4595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124" name="Google Shape;12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43225" y="3271837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49720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8325" y="3252787"/>
            <a:ext cx="11239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52775" y="3252787"/>
            <a:ext cx="11239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38325" y="3957637"/>
            <a:ext cx="11239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52775" y="3957637"/>
            <a:ext cx="11239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rPr>
              <a:t>Orchestration: Control Flow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6381750" y="2338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Deterministic Control: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Strictly enforces business logic using rigid nodes and edges.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381750" y="3100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Guardrails: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Prevents unpredictability by forcing specific paths (Plan → Execute).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381750" y="3862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Human-in-the-Loop: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"Interrupt" nodes pause execution for high-stakes approval.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381750" y="4624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Risk Mitigation: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Limits hallucinations and prevents infinite reasoning loops.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096000" y="2309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096000" y="3071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096000" y="3833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096000" y="4595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1343925" y="2844800"/>
            <a:ext cx="3476700" cy="1967700"/>
          </a:xfrm>
          <a:prstGeom prst="roundRect">
            <a:avLst>
              <a:gd fmla="val 31250" name="adj"/>
            </a:avLst>
          </a:prstGeom>
          <a:noFill/>
          <a:ln cap="flat" cmpd="sng" w="1905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49720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3525" y="2338375"/>
            <a:ext cx="3048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81275" y="3348037"/>
            <a:ext cx="9525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33525" y="2338387"/>
            <a:ext cx="666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14775" y="2338387"/>
            <a:ext cx="666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33525" y="5053012"/>
            <a:ext cx="666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14775" y="5053012"/>
            <a:ext cx="6667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rPr>
              <a:t>Orchestration Ecosystem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6381750" y="2338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Cognitive Core: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LLM acts as the "Brain," deciding the next best action.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381750" y="3100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Nervous System: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The graph connects the brain to limbs (tools) and senses.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381750" y="3862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Dynamic Routing: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Intelligently delegates tasks to specialized tools (Math, Search, Code).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381750" y="4624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Feedback Loops: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Outputs from one tool become inputs for the next thought.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096000" y="2309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096000" y="3071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096000" y="3833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6096000" y="4595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168" name="Google Shape;16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43225" y="3509962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76951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49720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6315" y="4086225"/>
            <a:ext cx="364227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/>
          <p:nvPr/>
        </p:nvSpPr>
        <p:spPr>
          <a:xfrm>
            <a:off x="781050" y="3452812"/>
            <a:ext cx="3642270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050" y="3219450"/>
            <a:ext cx="80962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90800" y="3219450"/>
            <a:ext cx="7905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1500" y="3219450"/>
            <a:ext cx="95250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rPr>
              <a:t>Stateful Financial Workflows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6381750" y="2338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Limitation: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Standard APIs are stateless; no memory of previous steps.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381750" y="3100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Database-Backed Memory: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Uses checkpointers to save graph state at every step.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381750" y="3862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Context Retention: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Data extracted in Step 1 persists to inform Step 3.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381750" y="4624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"Time Travel":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Allows developers to rewind, modify state, and fork execution for debugging.</a:t>
            </a:r>
            <a:endParaRPr/>
          </a:p>
        </p:txBody>
      </p:sp>
      <p:pic>
        <p:nvPicPr>
          <p:cNvPr descr="image.png" id="191" name="Google Shape;19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04876" y="421957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6096000" y="2309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096000" y="3071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096000" y="3833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096000" y="4595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49720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3338512"/>
            <a:ext cx="4857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3719512"/>
            <a:ext cx="4857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4100512"/>
            <a:ext cx="4857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67225" y="3605212"/>
            <a:ext cx="67627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rPr>
              <a:t>Model Context Protocol (MCP)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6381750" y="2338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N+1 Integrations. Custom "glue-code" is brittle and unscalable.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381750" y="3100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"USB-C for AI":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 universal open standard for connecting models to data.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381750" y="3862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Decoupled: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Separates the AI "Host" from the Data "Server."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381750" y="4624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Interoperable: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Write once, connect to any MCP-compliant AI client.</a:t>
            </a:r>
            <a:endParaRPr/>
          </a:p>
        </p:txBody>
      </p:sp>
      <p:pic>
        <p:nvPicPr>
          <p:cNvPr descr="image.png" id="212" name="Google Shape;21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38325" y="3709987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9525" y="3709987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6096000" y="2309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096000" y="3071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096000" y="3833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096000" y="4595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218" name="Google Shape;218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19400" y="352901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2828925" y="4052887"/>
            <a:ext cx="266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MCP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49720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0637" y="3443287"/>
            <a:ext cx="866775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00312" y="3443287"/>
            <a:ext cx="9525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95712" y="3443287"/>
            <a:ext cx="10287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rPr>
              <a:t>MCP Technical Architecture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6381750" y="2338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MCP Host: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The interface (e.g., Claude Desktop, IDE) initiating the connection.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6381750" y="3100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MCP Client: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Negotiator layer. Handles protocol handshake and capabilities.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6381750" y="3862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MCP Server: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Lightweight wrapper exposing data/tools (e.g., Postgres wrapper).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381750" y="4624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Security: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Explicitly defines resources, preventing unauthorized access.</a:t>
            </a:r>
            <a:endParaRPr/>
          </a:p>
        </p:txBody>
      </p:sp>
      <p:pic>
        <p:nvPicPr>
          <p:cNvPr descr="image.png" id="235" name="Google Shape;23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52662" y="37861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48062" y="378618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6096000" y="2309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6096000" y="3071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6096000" y="3833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096000" y="4595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241" name="Google Shape;24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95437" y="360521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33687" y="36052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195762" y="3605212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49720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3525" y="2338387"/>
            <a:ext cx="3048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76525" y="348138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33525" y="2338387"/>
            <a:ext cx="666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14775" y="2338387"/>
            <a:ext cx="666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33525" y="5053012"/>
            <a:ext cx="666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14775" y="5053012"/>
            <a:ext cx="6667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rPr>
              <a:t>Connectivity: Hub-and-Spoke</a:t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6381750" y="2338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Hub-and-Spoke: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Replaces messy "Mesh" integrations with a unified layer.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6381750" y="3100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Complexity Reduction: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Moves from N x M complexity to N + M.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381750" y="3862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Scalability: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Adding one data source makes it available to all connected agents.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381750" y="46243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Portability: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Swap LLM providers without rebuilding infrastructure.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096000" y="2309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096000" y="3071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096000" y="3833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096000" y="4595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n you make an infographic slide for mcp" id="270" name="Google Shape;27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49720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66900" y="2033587"/>
            <a:ext cx="238125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66900" y="3443287"/>
            <a:ext cx="238125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66900" y="4852987"/>
            <a:ext cx="23812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rPr>
              <a:t>RAG: Retrieval Augmented Generation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6381750" y="248126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Grounding: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Forces AI to answer </a:t>
            </a:r>
            <a:r>
              <a:rPr b="0" i="1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only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based on trusted internal documents.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6381750" y="324326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Semantic Search: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Uses embeddings to find meaning, not just keyword matches.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6381750" y="400526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Dynamic Knowledge: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Instant access to new data without model fine-tuning.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6381750" y="4767262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Verification: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Provides citations and source links for trust.</a:t>
            </a:r>
            <a:endParaRPr/>
          </a:p>
        </p:txBody>
      </p:sp>
      <p:pic>
        <p:nvPicPr>
          <p:cNvPr descr="image.png" id="286" name="Google Shape;28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86087" y="306228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86087" y="4471987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6096000" y="245268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6096000" y="321468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6096000" y="397668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6096000" y="473868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292" name="Google Shape;29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43225" y="21955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28937" y="360521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14650" y="5014912"/>
            <a:ext cx="2857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49720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2162" y="3443287"/>
            <a:ext cx="1000125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00487" y="3443287"/>
            <a:ext cx="12763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B0000"/>
                </a:solidFill>
                <a:latin typeface="Inter"/>
                <a:ea typeface="Inter"/>
                <a:cs typeface="Inter"/>
                <a:sym typeface="Inter"/>
              </a:rPr>
              <a:t>RAG Ingest Pipeline</a:t>
            </a:r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6381750" y="2481262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ETL: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Ingest raw data (PDF, SharePoint, Drive).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6381750" y="295751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Chunking: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Smart segmentation retains context for the LLM.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6381750" y="371951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Embeddings: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Converts text to high-dimensional vectors (numbers).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6381750" y="448151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Vector Indexing: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Enables millisecond "Nearest Neighbor" retrieval.</a:t>
            </a:r>
            <a:endParaRPr/>
          </a:p>
        </p:txBody>
      </p:sp>
      <p:pic>
        <p:nvPicPr>
          <p:cNvPr descr="image.png" id="309" name="Google Shape;30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09712" y="3709987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48037" y="3709987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4"/>
          <p:cNvSpPr txBox="1"/>
          <p:nvPr/>
        </p:nvSpPr>
        <p:spPr>
          <a:xfrm>
            <a:off x="6096000" y="245268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6096000" y="292893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6096000" y="369093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6096000" y="445293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315" name="Google Shape;31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8212" y="355282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8212" y="38862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33637" y="360521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38650" y="3605212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1887198" cy="648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