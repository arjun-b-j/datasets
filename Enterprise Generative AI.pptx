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Inter"/>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font" Target="fonts/Inter-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3125651d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3125651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3125651d8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b3125651d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b3125651d8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b3125651d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86" name="Google Shape;86;p13"/>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The Evolution – From Chatbots to Agents</a:t>
            </a:r>
            <a:endParaRPr/>
          </a:p>
        </p:txBody>
      </p:sp>
      <p:sp>
        <p:nvSpPr>
          <p:cNvPr id="87" name="Google Shape;87;p13"/>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800100" y="1392138"/>
            <a:ext cx="4743450" cy="14626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Standard LLMs (Passive):</a:t>
            </a:r>
            <a:r>
              <a:rPr b="0" i="0" lang="en-US" sz="1200" u="none" cap="none" strike="noStrike">
                <a:solidFill>
                  <a:srgbClr val="1E293B"/>
                </a:solidFill>
                <a:latin typeface="Inter"/>
                <a:ea typeface="Inter"/>
                <a:cs typeface="Inter"/>
                <a:sym typeface="Inter"/>
              </a:rPr>
              <a:t> Traditional chatbots operate as stateless, one-shot Q&amp;A engines. They are fundamentally limited by their pre-trained, static knowledge cutoff and lack the ability to interact with the environment. They simply predict the next token based on the input prompt without maintaining a persistent world model.</a:t>
            </a:r>
            <a:endParaRPr/>
          </a:p>
        </p:txBody>
      </p:sp>
      <p:sp>
        <p:nvSpPr>
          <p:cNvPr id="89" name="Google Shape;89;p13"/>
          <p:cNvSpPr txBox="1"/>
          <p:nvPr/>
        </p:nvSpPr>
        <p:spPr>
          <a:xfrm>
            <a:off x="800100" y="2969121"/>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Gen AI Agents (Active):</a:t>
            </a:r>
            <a:r>
              <a:rPr b="0" i="0" lang="en-US" sz="1200" u="none" cap="none" strike="noStrike">
                <a:solidFill>
                  <a:srgbClr val="1E293B"/>
                </a:solidFill>
                <a:latin typeface="Inter"/>
                <a:ea typeface="Inter"/>
                <a:cs typeface="Inter"/>
                <a:sym typeface="Inter"/>
              </a:rPr>
              <a:t> We are witnessing a paradigm shift toward "Agentic" workflows. These are stateful systems capable of complex reasoning, breaking down high-level objectives into manageable sub-tasks.</a:t>
            </a:r>
            <a:endParaRPr/>
          </a:p>
        </p:txBody>
      </p:sp>
      <p:sp>
        <p:nvSpPr>
          <p:cNvPr id="90" name="Google Shape;90;p13"/>
          <p:cNvSpPr txBox="1"/>
          <p:nvPr/>
        </p:nvSpPr>
        <p:spPr>
          <a:xfrm>
            <a:off x="800100" y="4058542"/>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Tool Use &amp; Actuation:</a:t>
            </a:r>
            <a:r>
              <a:rPr b="0" i="0" lang="en-US" sz="1200" u="none" cap="none" strike="noStrike">
                <a:solidFill>
                  <a:srgbClr val="1E293B"/>
                </a:solidFill>
                <a:latin typeface="Inter"/>
                <a:ea typeface="Inter"/>
                <a:cs typeface="Inter"/>
                <a:sym typeface="Inter"/>
              </a:rPr>
              <a:t> Unlike chatbots, agents are equipped with "hands" — they can call external APIs, query SQL databases, and scrape the web. This allows them to bridge the gap between text generation and real-world execution.</a:t>
            </a:r>
            <a:endParaRPr/>
          </a:p>
        </p:txBody>
      </p:sp>
      <p:sp>
        <p:nvSpPr>
          <p:cNvPr id="91" name="Google Shape;91;p13"/>
          <p:cNvSpPr txBox="1"/>
          <p:nvPr/>
        </p:nvSpPr>
        <p:spPr>
          <a:xfrm>
            <a:off x="800100" y="5147964"/>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The "Reasoning Loop":</a:t>
            </a:r>
            <a:r>
              <a:rPr b="0" i="0" lang="en-US" sz="1200" u="none" cap="none" strike="noStrike">
                <a:solidFill>
                  <a:srgbClr val="1E293B"/>
                </a:solidFill>
                <a:latin typeface="Inter"/>
                <a:ea typeface="Inter"/>
                <a:cs typeface="Inter"/>
                <a:sym typeface="Inter"/>
              </a:rPr>
              <a:t> Agents utilize a cognitive architecture (like ReAct: Reason + Act) to observe outputs from tools, evaluate success, and iterate on their approach until the specific goal is achieved.</a:t>
            </a:r>
            <a:endParaRPr/>
          </a:p>
        </p:txBody>
      </p:sp>
      <p:sp>
        <p:nvSpPr>
          <p:cNvPr id="92" name="Google Shape;92;p13"/>
          <p:cNvSpPr txBox="1"/>
          <p:nvPr/>
        </p:nvSpPr>
        <p:spPr>
          <a:xfrm>
            <a:off x="571500" y="137308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93" name="Google Shape;93;p13"/>
          <p:cNvSpPr txBox="1"/>
          <p:nvPr/>
        </p:nvSpPr>
        <p:spPr>
          <a:xfrm>
            <a:off x="571500" y="2950071"/>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94" name="Google Shape;94;p13"/>
          <p:cNvSpPr txBox="1"/>
          <p:nvPr/>
        </p:nvSpPr>
        <p:spPr>
          <a:xfrm>
            <a:off x="571500" y="403949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95" name="Google Shape;95;p13"/>
          <p:cNvSpPr txBox="1"/>
          <p:nvPr/>
        </p:nvSpPr>
        <p:spPr>
          <a:xfrm>
            <a:off x="571500" y="512891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pic>
        <p:nvPicPr>
          <p:cNvPr id="96" name="Google Shape;96;p13" title="Gemini_Generated_Image_m906vum906vum906.png"/>
          <p:cNvPicPr preferRelativeResize="0"/>
          <p:nvPr/>
        </p:nvPicPr>
        <p:blipFill>
          <a:blip r:embed="rId5">
            <a:alphaModFix/>
          </a:blip>
          <a:stretch>
            <a:fillRect/>
          </a:stretch>
        </p:blipFill>
        <p:spPr>
          <a:xfrm>
            <a:off x="5924550" y="2189325"/>
            <a:ext cx="6076948" cy="33144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pic>
        <p:nvPicPr>
          <p:cNvPr descr="image.png" id="101" name="Google Shape;10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2" name="Google Shape;102;p14"/>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103" name="Google Shape;103;p14"/>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Orchestration with LangGraph (Part 1: The Concept)</a:t>
            </a:r>
            <a:endParaRPr/>
          </a:p>
        </p:txBody>
      </p:sp>
      <p:sp>
        <p:nvSpPr>
          <p:cNvPr id="104" name="Google Shape;104;p14"/>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4"/>
          <p:cNvSpPr txBox="1"/>
          <p:nvPr/>
        </p:nvSpPr>
        <p:spPr>
          <a:xfrm>
            <a:off x="800100" y="1635918"/>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Beyond Linear Chains:</a:t>
            </a:r>
            <a:r>
              <a:rPr b="0" i="0" lang="en-US" sz="1200" u="none" cap="none" strike="noStrike">
                <a:solidFill>
                  <a:srgbClr val="1E293B"/>
                </a:solidFill>
                <a:latin typeface="Inter"/>
                <a:ea typeface="Inter"/>
                <a:cs typeface="Inter"/>
                <a:sym typeface="Inter"/>
              </a:rPr>
              <a:t> Early LLM applications relied on simple chains (Sequence A → B → C) or Directed Acyclic Graphs (DAGs). These are brittle and fail when a step produces an unexpected output requiring a retry or a change in strategy.</a:t>
            </a:r>
            <a:endParaRPr/>
          </a:p>
        </p:txBody>
      </p:sp>
      <p:sp>
        <p:nvSpPr>
          <p:cNvPr id="106" name="Google Shape;106;p14"/>
          <p:cNvSpPr txBox="1"/>
          <p:nvPr/>
        </p:nvSpPr>
        <p:spPr>
          <a:xfrm>
            <a:off x="800100" y="2725340"/>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Cyclic Graphs for Cognition:</a:t>
            </a:r>
            <a:r>
              <a:rPr b="0" i="0" lang="en-US" sz="1200" u="none" cap="none" strike="noStrike">
                <a:solidFill>
                  <a:srgbClr val="1E293B"/>
                </a:solidFill>
                <a:latin typeface="Inter"/>
                <a:ea typeface="Inter"/>
                <a:cs typeface="Inter"/>
                <a:sym typeface="Inter"/>
              </a:rPr>
              <a:t> LangGraph introduces the concept of </a:t>
            </a:r>
            <a:r>
              <a:rPr b="1" i="0" lang="en-US" sz="1200" u="none" cap="none" strike="noStrike">
                <a:solidFill>
                  <a:srgbClr val="0F172A"/>
                </a:solidFill>
                <a:latin typeface="Inter"/>
                <a:ea typeface="Inter"/>
                <a:cs typeface="Inter"/>
                <a:sym typeface="Inter"/>
              </a:rPr>
              <a:t>cycles</a:t>
            </a:r>
            <a:r>
              <a:rPr b="0" i="0" lang="en-US" sz="1200" u="none" cap="none" strike="noStrike">
                <a:solidFill>
                  <a:srgbClr val="1E293B"/>
                </a:solidFill>
                <a:latin typeface="Inter"/>
                <a:ea typeface="Inter"/>
                <a:cs typeface="Inter"/>
                <a:sym typeface="Inter"/>
              </a:rPr>
              <a:t> into the orchestration layer. These loops are essential for mimicking human-like problem solving, allowing the system to revisit previous steps based on new data.</a:t>
            </a:r>
            <a:endParaRPr/>
          </a:p>
        </p:txBody>
      </p:sp>
      <p:sp>
        <p:nvSpPr>
          <p:cNvPr id="107" name="Google Shape;107;p14"/>
          <p:cNvSpPr txBox="1"/>
          <p:nvPr/>
        </p:nvSpPr>
        <p:spPr>
          <a:xfrm>
            <a:off x="800100" y="3814762"/>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Self-Reflection &amp; Correction:</a:t>
            </a:r>
            <a:r>
              <a:rPr b="0" i="0" lang="en-US" sz="1200" u="none" cap="none" strike="noStrike">
                <a:solidFill>
                  <a:srgbClr val="1E293B"/>
                </a:solidFill>
                <a:latin typeface="Inter"/>
                <a:ea typeface="Inter"/>
                <a:cs typeface="Inter"/>
                <a:sym typeface="Inter"/>
              </a:rPr>
              <a:t> If an agent generates code that fails a unit test, the cyclic graph allows it to "loop back," read the error message, correct the code, and try again, rather than simply halting.</a:t>
            </a:r>
            <a:endParaRPr/>
          </a:p>
        </p:txBody>
      </p:sp>
      <p:sp>
        <p:nvSpPr>
          <p:cNvPr id="108" name="Google Shape;108;p14"/>
          <p:cNvSpPr txBox="1"/>
          <p:nvPr/>
        </p:nvSpPr>
        <p:spPr>
          <a:xfrm>
            <a:off x="800100" y="4904184"/>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State Persistence:</a:t>
            </a:r>
            <a:r>
              <a:rPr b="0" i="0" lang="en-US" sz="1200" u="none" cap="none" strike="noStrike">
                <a:solidFill>
                  <a:srgbClr val="1E293B"/>
                </a:solidFill>
                <a:latin typeface="Inter"/>
                <a:ea typeface="Inter"/>
                <a:cs typeface="Inter"/>
                <a:sym typeface="Inter"/>
              </a:rPr>
              <a:t> LangGraph maintains a global state object that passes through the graph, accumulating context, tool outputs, and decision history, enabling complex, multi-turn agent behaviors that persist over time.</a:t>
            </a:r>
            <a:endParaRPr/>
          </a:p>
        </p:txBody>
      </p:sp>
      <p:pic>
        <p:nvPicPr>
          <p:cNvPr descr="image.png" id="109" name="Google Shape;109;p14"/>
          <p:cNvPicPr preferRelativeResize="0"/>
          <p:nvPr/>
        </p:nvPicPr>
        <p:blipFill rotWithShape="1">
          <a:blip r:embed="rId5">
            <a:alphaModFix/>
          </a:blip>
          <a:srcRect b="0" l="0" r="0" t="0"/>
          <a:stretch/>
        </p:blipFill>
        <p:spPr>
          <a:xfrm>
            <a:off x="5934075" y="1347787"/>
            <a:ext cx="6057899" cy="4933949"/>
          </a:xfrm>
          <a:prstGeom prst="rect">
            <a:avLst/>
          </a:prstGeom>
          <a:noFill/>
          <a:ln>
            <a:noFill/>
          </a:ln>
        </p:spPr>
      </p:pic>
      <p:sp>
        <p:nvSpPr>
          <p:cNvPr id="110" name="Google Shape;110;p14"/>
          <p:cNvSpPr txBox="1"/>
          <p:nvPr/>
        </p:nvSpPr>
        <p:spPr>
          <a:xfrm>
            <a:off x="571500" y="161686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11" name="Google Shape;111;p14"/>
          <p:cNvSpPr txBox="1"/>
          <p:nvPr/>
        </p:nvSpPr>
        <p:spPr>
          <a:xfrm>
            <a:off x="571500" y="2706290"/>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12" name="Google Shape;112;p14"/>
          <p:cNvSpPr txBox="1"/>
          <p:nvPr/>
        </p:nvSpPr>
        <p:spPr>
          <a:xfrm>
            <a:off x="571500" y="379571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13" name="Google Shape;113;p14"/>
          <p:cNvSpPr txBox="1"/>
          <p:nvPr/>
        </p:nvSpPr>
        <p:spPr>
          <a:xfrm>
            <a:off x="571500" y="488513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pic>
        <p:nvPicPr>
          <p:cNvPr descr="image.png" id="118" name="Google Shape;118;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9" name="Google Shape;119;p15"/>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120" name="Google Shape;120;p15"/>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Orchestration with LangGraph (Part 2: Control Flow)</a:t>
            </a:r>
            <a:endParaRPr/>
          </a:p>
        </p:txBody>
      </p:sp>
      <p:sp>
        <p:nvSpPr>
          <p:cNvPr id="121" name="Google Shape;121;p15"/>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5"/>
          <p:cNvSpPr txBox="1"/>
          <p:nvPr/>
        </p:nvSpPr>
        <p:spPr>
          <a:xfrm>
            <a:off x="800100" y="1635918"/>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Deterministic Control:</a:t>
            </a:r>
            <a:r>
              <a:rPr b="0" i="0" lang="en-US" sz="1200" u="none" cap="none" strike="noStrike">
                <a:solidFill>
                  <a:srgbClr val="1E293B"/>
                </a:solidFill>
                <a:latin typeface="Inter"/>
                <a:ea typeface="Inter"/>
                <a:cs typeface="Inter"/>
                <a:sym typeface="Inter"/>
              </a:rPr>
              <a:t> In enterprise environments, unfettered agent autonomy creates unpredictability. LangGraph mitigates this by allowing engineers to define rigid nodes ("Actors") and conditional edges ("Logic") that strictly govern the agent's path.</a:t>
            </a:r>
            <a:endParaRPr/>
          </a:p>
        </p:txBody>
      </p:sp>
      <p:sp>
        <p:nvSpPr>
          <p:cNvPr id="123" name="Google Shape;123;p15"/>
          <p:cNvSpPr txBox="1"/>
          <p:nvPr/>
        </p:nvSpPr>
        <p:spPr>
          <a:xfrm>
            <a:off x="800100" y="2725340"/>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Cognitive Architectures:</a:t>
            </a:r>
            <a:r>
              <a:rPr b="0" i="0" lang="en-US" sz="1200" u="none" cap="none" strike="noStrike">
                <a:solidFill>
                  <a:srgbClr val="1E293B"/>
                </a:solidFill>
                <a:latin typeface="Inter"/>
                <a:ea typeface="Inter"/>
                <a:cs typeface="Inter"/>
                <a:sym typeface="Inter"/>
              </a:rPr>
              <a:t> You can enforce specific architectures, such as a </a:t>
            </a:r>
            <a:r>
              <a:rPr b="1" i="0" lang="en-US" sz="1200" u="none" cap="none" strike="noStrike">
                <a:solidFill>
                  <a:srgbClr val="0F172A"/>
                </a:solidFill>
                <a:latin typeface="Inter"/>
                <a:ea typeface="Inter"/>
                <a:cs typeface="Inter"/>
                <a:sym typeface="Inter"/>
              </a:rPr>
              <a:t>Plan → Execute → Reflect → Adjust</a:t>
            </a:r>
            <a:r>
              <a:rPr b="0" i="0" lang="en-US" sz="1200" u="none" cap="none" strike="noStrike">
                <a:solidFill>
                  <a:srgbClr val="1E293B"/>
                </a:solidFill>
                <a:latin typeface="Inter"/>
                <a:ea typeface="Inter"/>
                <a:cs typeface="Inter"/>
                <a:sym typeface="Inter"/>
              </a:rPr>
              <a:t> loop. This forces the agent to validate its own work before presenting a final answer to the user.</a:t>
            </a:r>
            <a:endParaRPr/>
          </a:p>
        </p:txBody>
      </p:sp>
      <p:sp>
        <p:nvSpPr>
          <p:cNvPr id="124" name="Google Shape;124;p15"/>
          <p:cNvSpPr txBox="1"/>
          <p:nvPr/>
        </p:nvSpPr>
        <p:spPr>
          <a:xfrm>
            <a:off x="800100" y="3814762"/>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Human-in-the-Loop:</a:t>
            </a:r>
            <a:r>
              <a:rPr b="0" i="0" lang="en-US" sz="1200" u="none" cap="none" strike="noStrike">
                <a:solidFill>
                  <a:srgbClr val="1E293B"/>
                </a:solidFill>
                <a:latin typeface="Inter"/>
                <a:ea typeface="Inter"/>
                <a:cs typeface="Inter"/>
                <a:sym typeface="Inter"/>
              </a:rPr>
              <a:t> The control flow can include "interrupt" nodes that pause execution and require human approval before proceeding to high-stakes actions (e.g., executing a financial transaction or deploying code).</a:t>
            </a:r>
            <a:endParaRPr/>
          </a:p>
        </p:txBody>
      </p:sp>
      <p:sp>
        <p:nvSpPr>
          <p:cNvPr id="125" name="Google Shape;125;p15"/>
          <p:cNvSpPr txBox="1"/>
          <p:nvPr/>
        </p:nvSpPr>
        <p:spPr>
          <a:xfrm>
            <a:off x="800100" y="4904184"/>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Risk Mitigation:</a:t>
            </a:r>
            <a:r>
              <a:rPr b="0" i="0" lang="en-US" sz="1200" u="none" cap="none" strike="noStrike">
                <a:solidFill>
                  <a:srgbClr val="1E293B"/>
                </a:solidFill>
                <a:latin typeface="Inter"/>
                <a:ea typeface="Inter"/>
                <a:cs typeface="Inter"/>
                <a:sym typeface="Inter"/>
              </a:rPr>
              <a:t> By constraining the agent's reasoning path, we prevent "infinite loops" of reasoning and reduce the likelihood of hallucinations, ensuring the system operates within defined business boundaries.</a:t>
            </a:r>
            <a:endParaRPr/>
          </a:p>
        </p:txBody>
      </p:sp>
      <p:pic>
        <p:nvPicPr>
          <p:cNvPr descr="image.png" id="126" name="Google Shape;126;p15"/>
          <p:cNvPicPr preferRelativeResize="0"/>
          <p:nvPr/>
        </p:nvPicPr>
        <p:blipFill rotWithShape="1">
          <a:blip r:embed="rId5">
            <a:alphaModFix/>
          </a:blip>
          <a:srcRect b="0" l="0" r="0" t="0"/>
          <a:stretch/>
        </p:blipFill>
        <p:spPr>
          <a:xfrm>
            <a:off x="5934075" y="1347787"/>
            <a:ext cx="6057900" cy="4933950"/>
          </a:xfrm>
          <a:prstGeom prst="rect">
            <a:avLst/>
          </a:prstGeom>
          <a:noFill/>
          <a:ln>
            <a:noFill/>
          </a:ln>
        </p:spPr>
      </p:pic>
      <p:sp>
        <p:nvSpPr>
          <p:cNvPr id="127" name="Google Shape;127;p15"/>
          <p:cNvSpPr txBox="1"/>
          <p:nvPr/>
        </p:nvSpPr>
        <p:spPr>
          <a:xfrm>
            <a:off x="571500" y="161686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28" name="Google Shape;128;p15"/>
          <p:cNvSpPr txBox="1"/>
          <p:nvPr/>
        </p:nvSpPr>
        <p:spPr>
          <a:xfrm>
            <a:off x="571500" y="2706290"/>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29" name="Google Shape;129;p15"/>
          <p:cNvSpPr txBox="1"/>
          <p:nvPr/>
        </p:nvSpPr>
        <p:spPr>
          <a:xfrm>
            <a:off x="571500" y="379571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30" name="Google Shape;130;p15"/>
          <p:cNvSpPr txBox="1"/>
          <p:nvPr/>
        </p:nvSpPr>
        <p:spPr>
          <a:xfrm>
            <a:off x="571500" y="488513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Can you add a Infographic Slide for Orchestration with LangGraph" id="135" name="Google Shape;135;p16"/>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pic>
        <p:nvPicPr>
          <p:cNvPr descr="image.png" id="140" name="Google Shape;14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1" name="Google Shape;141;p17"/>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142" name="Google Shape;142;p17"/>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Building Stateful Workflows for Finance</a:t>
            </a:r>
            <a:endParaRPr/>
          </a:p>
        </p:txBody>
      </p:sp>
      <p:sp>
        <p:nvSpPr>
          <p:cNvPr id="143" name="Google Shape;143;p17"/>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7"/>
          <p:cNvSpPr txBox="1"/>
          <p:nvPr/>
        </p:nvSpPr>
        <p:spPr>
          <a:xfrm>
            <a:off x="800100" y="1635918"/>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The Stateless Limitation:</a:t>
            </a:r>
            <a:r>
              <a:rPr b="0" i="0" lang="en-US" sz="1200" u="none" cap="none" strike="noStrike">
                <a:solidFill>
                  <a:srgbClr val="1E293B"/>
                </a:solidFill>
                <a:latin typeface="Inter"/>
                <a:ea typeface="Inter"/>
                <a:cs typeface="Inter"/>
                <a:sym typeface="Inter"/>
              </a:rPr>
              <a:t> Standard LLM API calls are independent events; the model has no memory of previous interactions. This makes them unsuitable for long-running processes like loan origination or audit trails.</a:t>
            </a:r>
            <a:endParaRPr/>
          </a:p>
        </p:txBody>
      </p:sp>
      <p:sp>
        <p:nvSpPr>
          <p:cNvPr id="145" name="Google Shape;145;p17"/>
          <p:cNvSpPr txBox="1"/>
          <p:nvPr/>
        </p:nvSpPr>
        <p:spPr>
          <a:xfrm>
            <a:off x="800100" y="2725340"/>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Checkpointing &amp; Persistence:</a:t>
            </a:r>
            <a:r>
              <a:rPr b="0" i="0" lang="en-US" sz="1200" u="none" cap="none" strike="noStrike">
                <a:solidFill>
                  <a:srgbClr val="1E293B"/>
                </a:solidFill>
                <a:latin typeface="Inter"/>
                <a:ea typeface="Inter"/>
                <a:cs typeface="Inter"/>
                <a:sym typeface="Inter"/>
              </a:rPr>
              <a:t> Enterprise agents require a database-backed "memory." LangGraph uses checkpointers to save the state of the graph at every step. If the system crashes or pauses for days, it can resume exactly where it left off.</a:t>
            </a:r>
            <a:endParaRPr/>
          </a:p>
        </p:txBody>
      </p:sp>
      <p:sp>
        <p:nvSpPr>
          <p:cNvPr id="146" name="Google Shape;146;p17"/>
          <p:cNvSpPr txBox="1"/>
          <p:nvPr/>
        </p:nvSpPr>
        <p:spPr>
          <a:xfrm>
            <a:off x="800100" y="3814762"/>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Shared Context:</a:t>
            </a:r>
            <a:r>
              <a:rPr b="0" i="0" lang="en-US" sz="1200" u="none" cap="none" strike="noStrike">
                <a:solidFill>
                  <a:srgbClr val="1E293B"/>
                </a:solidFill>
                <a:latin typeface="Inter"/>
                <a:ea typeface="Inter"/>
                <a:cs typeface="Inter"/>
                <a:sym typeface="Inter"/>
              </a:rPr>
              <a:t> In a multi-step financial workflow, the agent must retain structured data extracted in </a:t>
            </a:r>
            <a:r>
              <a:rPr b="0" i="1" lang="en-US" sz="1200" u="none" cap="none" strike="noStrike">
                <a:solidFill>
                  <a:srgbClr val="1E293B"/>
                </a:solidFill>
                <a:latin typeface="Inter"/>
                <a:ea typeface="Inter"/>
                <a:cs typeface="Inter"/>
                <a:sym typeface="Inter"/>
              </a:rPr>
              <a:t>Step 1 (Data Extraction)</a:t>
            </a:r>
            <a:r>
              <a:rPr b="0" i="0" lang="en-US" sz="1200" u="none" cap="none" strike="noStrike">
                <a:solidFill>
                  <a:srgbClr val="1E293B"/>
                </a:solidFill>
                <a:latin typeface="Inter"/>
                <a:ea typeface="Inter"/>
                <a:cs typeface="Inter"/>
                <a:sym typeface="Inter"/>
              </a:rPr>
              <a:t> to accurately inform the calculations in </a:t>
            </a:r>
            <a:r>
              <a:rPr b="0" i="1" lang="en-US" sz="1200" u="none" cap="none" strike="noStrike">
                <a:solidFill>
                  <a:srgbClr val="1E293B"/>
                </a:solidFill>
                <a:latin typeface="Inter"/>
                <a:ea typeface="Inter"/>
                <a:cs typeface="Inter"/>
                <a:sym typeface="Inter"/>
              </a:rPr>
              <a:t>Step 2 (Risk Analysis)</a:t>
            </a:r>
            <a:r>
              <a:rPr b="0" i="0" lang="en-US" sz="1200" u="none" cap="none" strike="noStrike">
                <a:solidFill>
                  <a:srgbClr val="1E293B"/>
                </a:solidFill>
                <a:latin typeface="Inter"/>
                <a:ea typeface="Inter"/>
                <a:cs typeface="Inter"/>
                <a:sym typeface="Inter"/>
              </a:rPr>
              <a:t> and the final summary in </a:t>
            </a:r>
            <a:r>
              <a:rPr b="0" i="1" lang="en-US" sz="1200" u="none" cap="none" strike="noStrike">
                <a:solidFill>
                  <a:srgbClr val="1E293B"/>
                </a:solidFill>
                <a:latin typeface="Inter"/>
                <a:ea typeface="Inter"/>
                <a:cs typeface="Inter"/>
                <a:sym typeface="Inter"/>
              </a:rPr>
              <a:t>Step 3 (Reporting)</a:t>
            </a:r>
            <a:r>
              <a:rPr b="0" i="0" lang="en-US" sz="1200" u="none" cap="none" strike="noStrike">
                <a:solidFill>
                  <a:srgbClr val="1E293B"/>
                </a:solidFill>
                <a:latin typeface="Inter"/>
                <a:ea typeface="Inter"/>
                <a:cs typeface="Inter"/>
                <a:sym typeface="Inter"/>
              </a:rPr>
              <a:t>.</a:t>
            </a:r>
            <a:endParaRPr/>
          </a:p>
        </p:txBody>
      </p:sp>
      <p:sp>
        <p:nvSpPr>
          <p:cNvPr id="147" name="Google Shape;147;p17"/>
          <p:cNvSpPr txBox="1"/>
          <p:nvPr/>
        </p:nvSpPr>
        <p:spPr>
          <a:xfrm>
            <a:off x="800100" y="4904184"/>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"Time Travel" Debugging:</a:t>
            </a:r>
            <a:r>
              <a:rPr b="0" i="0" lang="en-US" sz="1200" u="none" cap="none" strike="noStrike">
                <a:solidFill>
                  <a:srgbClr val="1E293B"/>
                </a:solidFill>
                <a:latin typeface="Inter"/>
                <a:ea typeface="Inter"/>
                <a:cs typeface="Inter"/>
                <a:sym typeface="Inter"/>
              </a:rPr>
              <a:t> Statefulness allows developers to "rewind" the agent's actions to a specific step, modify the state, and fork the execution path to test different outcomes, which is critical for debugging complex financial logic.</a:t>
            </a:r>
            <a:endParaRPr/>
          </a:p>
        </p:txBody>
      </p:sp>
      <p:pic>
        <p:nvPicPr>
          <p:cNvPr descr="image.png" id="148" name="Google Shape;148;p17"/>
          <p:cNvPicPr preferRelativeResize="0"/>
          <p:nvPr/>
        </p:nvPicPr>
        <p:blipFill rotWithShape="1">
          <a:blip r:embed="rId5">
            <a:alphaModFix/>
          </a:blip>
          <a:srcRect b="0" l="0" r="0" t="0"/>
          <a:stretch/>
        </p:blipFill>
        <p:spPr>
          <a:xfrm>
            <a:off x="5934075" y="1347787"/>
            <a:ext cx="6057900" cy="4933950"/>
          </a:xfrm>
          <a:prstGeom prst="rect">
            <a:avLst/>
          </a:prstGeom>
          <a:noFill/>
          <a:ln>
            <a:noFill/>
          </a:ln>
        </p:spPr>
      </p:pic>
      <p:sp>
        <p:nvSpPr>
          <p:cNvPr id="149" name="Google Shape;149;p17"/>
          <p:cNvSpPr txBox="1"/>
          <p:nvPr/>
        </p:nvSpPr>
        <p:spPr>
          <a:xfrm>
            <a:off x="571500" y="161686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50" name="Google Shape;150;p17"/>
          <p:cNvSpPr txBox="1"/>
          <p:nvPr/>
        </p:nvSpPr>
        <p:spPr>
          <a:xfrm>
            <a:off x="571500" y="2706290"/>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51" name="Google Shape;151;p17"/>
          <p:cNvSpPr txBox="1"/>
          <p:nvPr/>
        </p:nvSpPr>
        <p:spPr>
          <a:xfrm>
            <a:off x="571500" y="379571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52" name="Google Shape;152;p17"/>
          <p:cNvSpPr txBox="1"/>
          <p:nvPr/>
        </p:nvSpPr>
        <p:spPr>
          <a:xfrm>
            <a:off x="571500" y="488513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pic>
        <p:nvPicPr>
          <p:cNvPr descr="image.png" id="157" name="Google Shape;157;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8" name="Google Shape;158;p18"/>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159" name="Google Shape;159;p18"/>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Model Context Protocol (MCP) – The Standard</a:t>
            </a:r>
            <a:endParaRPr/>
          </a:p>
        </p:txBody>
      </p:sp>
      <p:sp>
        <p:nvSpPr>
          <p:cNvPr id="160" name="Google Shape;160;p18"/>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8"/>
          <p:cNvSpPr txBox="1"/>
          <p:nvPr/>
        </p:nvSpPr>
        <p:spPr>
          <a:xfrm>
            <a:off x="800100" y="1635918"/>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The N+1 Integration Problem:</a:t>
            </a:r>
            <a:r>
              <a:rPr b="0" i="0" lang="en-US" sz="1200" u="none" cap="none" strike="noStrike">
                <a:solidFill>
                  <a:srgbClr val="1E293B"/>
                </a:solidFill>
                <a:latin typeface="Inter"/>
                <a:ea typeface="Inter"/>
                <a:cs typeface="Inter"/>
                <a:sym typeface="Inter"/>
              </a:rPr>
              <a:t> Traditionally, connecting an AI to a new data source (e.g., Google Drive, Slack, Postgres) required writing custom, brittle "glue-code" for every single pair of tools. This does not scale in a large enterprise.</a:t>
            </a:r>
            <a:endParaRPr/>
          </a:p>
        </p:txBody>
      </p:sp>
      <p:sp>
        <p:nvSpPr>
          <p:cNvPr id="162" name="Google Shape;162;p18"/>
          <p:cNvSpPr txBox="1"/>
          <p:nvPr/>
        </p:nvSpPr>
        <p:spPr>
          <a:xfrm>
            <a:off x="800100" y="2725340"/>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"USB-C for AI":</a:t>
            </a:r>
            <a:r>
              <a:rPr b="0" i="0" lang="en-US" sz="1200" u="none" cap="none" strike="noStrike">
                <a:solidFill>
                  <a:srgbClr val="1E293B"/>
                </a:solidFill>
                <a:latin typeface="Inter"/>
                <a:ea typeface="Inter"/>
                <a:cs typeface="Inter"/>
                <a:sym typeface="Inter"/>
              </a:rPr>
              <a:t> The Model Context Protocol (MCP) is an open standard that creates a universal interface. Just as USB-C allows any device to connect to any port, MCP allows any AI model to connect to any data source without custom code.</a:t>
            </a:r>
            <a:endParaRPr/>
          </a:p>
        </p:txBody>
      </p:sp>
      <p:sp>
        <p:nvSpPr>
          <p:cNvPr id="163" name="Google Shape;163;p18"/>
          <p:cNvSpPr txBox="1"/>
          <p:nvPr/>
        </p:nvSpPr>
        <p:spPr>
          <a:xfrm>
            <a:off x="800100" y="3814762"/>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Decoupled Architecture:</a:t>
            </a:r>
            <a:r>
              <a:rPr b="0" i="0" lang="en-US" sz="1200" u="none" cap="none" strike="noStrike">
                <a:solidFill>
                  <a:srgbClr val="1E293B"/>
                </a:solidFill>
                <a:latin typeface="Inter"/>
                <a:ea typeface="Inter"/>
                <a:cs typeface="Inter"/>
                <a:sym typeface="Inter"/>
              </a:rPr>
              <a:t> MCP separates the "Host" (the AI application) from the "Server" (the data source). This implies that if you switch from OpenAI to Anthropic, or from Slack to Teams, the underlying integration layer remains stable and reusable.</a:t>
            </a:r>
            <a:endParaRPr/>
          </a:p>
        </p:txBody>
      </p:sp>
      <p:sp>
        <p:nvSpPr>
          <p:cNvPr id="164" name="Google Shape;164;p18"/>
          <p:cNvSpPr txBox="1"/>
          <p:nvPr/>
        </p:nvSpPr>
        <p:spPr>
          <a:xfrm>
            <a:off x="800100" y="4904184"/>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Ecosystem Interoperability:</a:t>
            </a:r>
            <a:r>
              <a:rPr b="0" i="0" lang="en-US" sz="1200" u="none" cap="none" strike="noStrike">
                <a:solidFill>
                  <a:srgbClr val="1E293B"/>
                </a:solidFill>
                <a:latin typeface="Inter"/>
                <a:ea typeface="Inter"/>
                <a:cs typeface="Inter"/>
                <a:sym typeface="Inter"/>
              </a:rPr>
              <a:t> This standard fosters a growing ecosystem where developers can build "MCP Servers" once, and they act as plug-and-play connectors for any MCP-compliant AI client, dramatically speeding up development.</a:t>
            </a:r>
            <a:endParaRPr/>
          </a:p>
        </p:txBody>
      </p:sp>
      <p:pic>
        <p:nvPicPr>
          <p:cNvPr descr="image.png" id="165" name="Google Shape;165;p18"/>
          <p:cNvPicPr preferRelativeResize="0"/>
          <p:nvPr/>
        </p:nvPicPr>
        <p:blipFill rotWithShape="1">
          <a:blip r:embed="rId5">
            <a:alphaModFix/>
          </a:blip>
          <a:srcRect b="0" l="0" r="0" t="0"/>
          <a:stretch/>
        </p:blipFill>
        <p:spPr>
          <a:xfrm>
            <a:off x="5934075" y="1347787"/>
            <a:ext cx="6057900" cy="4933950"/>
          </a:xfrm>
          <a:prstGeom prst="rect">
            <a:avLst/>
          </a:prstGeom>
          <a:noFill/>
          <a:ln>
            <a:noFill/>
          </a:ln>
        </p:spPr>
      </p:pic>
      <p:sp>
        <p:nvSpPr>
          <p:cNvPr id="166" name="Google Shape;166;p18"/>
          <p:cNvSpPr txBox="1"/>
          <p:nvPr/>
        </p:nvSpPr>
        <p:spPr>
          <a:xfrm>
            <a:off x="571500" y="161686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67" name="Google Shape;167;p18"/>
          <p:cNvSpPr txBox="1"/>
          <p:nvPr/>
        </p:nvSpPr>
        <p:spPr>
          <a:xfrm>
            <a:off x="571500" y="2706290"/>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68" name="Google Shape;168;p18"/>
          <p:cNvSpPr txBox="1"/>
          <p:nvPr/>
        </p:nvSpPr>
        <p:spPr>
          <a:xfrm>
            <a:off x="571500" y="379571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69" name="Google Shape;169;p18"/>
          <p:cNvSpPr txBox="1"/>
          <p:nvPr/>
        </p:nvSpPr>
        <p:spPr>
          <a:xfrm>
            <a:off x="571500" y="488513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pic>
        <p:nvPicPr>
          <p:cNvPr descr="image.png" id="174" name="Google Shape;174;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5" name="Google Shape;175;p19"/>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176" name="Google Shape;176;p19"/>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MCP Architecture – How It Works</a:t>
            </a:r>
            <a:endParaRPr/>
          </a:p>
        </p:txBody>
      </p:sp>
      <p:sp>
        <p:nvSpPr>
          <p:cNvPr id="177" name="Google Shape;177;p19"/>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9"/>
          <p:cNvSpPr txBox="1"/>
          <p:nvPr/>
        </p:nvSpPr>
        <p:spPr>
          <a:xfrm>
            <a:off x="800100" y="1635918"/>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MCP Host (The Brain):</a:t>
            </a:r>
            <a:r>
              <a:rPr b="0" i="0" lang="en-US" sz="1200" u="none" cap="none" strike="noStrike">
                <a:solidFill>
                  <a:srgbClr val="1E293B"/>
                </a:solidFill>
                <a:latin typeface="Inter"/>
                <a:ea typeface="Inter"/>
                <a:cs typeface="Inter"/>
                <a:sym typeface="Inter"/>
              </a:rPr>
              <a:t> The client application (e.g., Claude Desktop, Zed IDE, or a custom Enterprise UI) that initiates the connection. It acts as the user interface and the orchestration engine for the AI model.</a:t>
            </a:r>
            <a:endParaRPr/>
          </a:p>
        </p:txBody>
      </p:sp>
      <p:sp>
        <p:nvSpPr>
          <p:cNvPr id="179" name="Google Shape;179;p19"/>
          <p:cNvSpPr txBox="1"/>
          <p:nvPr/>
        </p:nvSpPr>
        <p:spPr>
          <a:xfrm>
            <a:off x="800100" y="2725340"/>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MCP Client (The Negotiator):</a:t>
            </a:r>
            <a:r>
              <a:rPr b="0" i="0" lang="en-US" sz="1200" u="none" cap="none" strike="noStrike">
                <a:solidFill>
                  <a:srgbClr val="1E293B"/>
                </a:solidFill>
                <a:latin typeface="Inter"/>
                <a:ea typeface="Inter"/>
                <a:cs typeface="Inter"/>
                <a:sym typeface="Inter"/>
              </a:rPr>
              <a:t> This layer sits between the Host and Server. It handles the protocol handshake, capability negotiation (what tools are available?), and manages the secure transport of JSON-RPC messages.</a:t>
            </a:r>
            <a:endParaRPr/>
          </a:p>
        </p:txBody>
      </p:sp>
      <p:sp>
        <p:nvSpPr>
          <p:cNvPr id="180" name="Google Shape;180;p19"/>
          <p:cNvSpPr txBox="1"/>
          <p:nvPr/>
        </p:nvSpPr>
        <p:spPr>
          <a:xfrm>
            <a:off x="800100" y="3814762"/>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MCP Server (The Resource):</a:t>
            </a:r>
            <a:r>
              <a:rPr b="0" i="0" lang="en-US" sz="1200" u="none" cap="none" strike="noStrike">
                <a:solidFill>
                  <a:srgbClr val="1E293B"/>
                </a:solidFill>
                <a:latin typeface="Inter"/>
                <a:ea typeface="Inter"/>
                <a:cs typeface="Inter"/>
                <a:sym typeface="Inter"/>
              </a:rPr>
              <a:t> A lightweight service that wraps a specific data source or tool. For example, a "Postgres MCP Server" exposes database schemas and query capabilities as standard MCP tools that the LLM can understand and invoke.</a:t>
            </a:r>
            <a:endParaRPr/>
          </a:p>
        </p:txBody>
      </p:sp>
      <p:sp>
        <p:nvSpPr>
          <p:cNvPr id="181" name="Google Shape;181;p19"/>
          <p:cNvSpPr txBox="1"/>
          <p:nvPr/>
        </p:nvSpPr>
        <p:spPr>
          <a:xfrm>
            <a:off x="800100" y="4904184"/>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Security Boundaries:</a:t>
            </a:r>
            <a:r>
              <a:rPr b="0" i="0" lang="en-US" sz="1200" u="none" cap="none" strike="noStrike">
                <a:solidFill>
                  <a:srgbClr val="1E293B"/>
                </a:solidFill>
                <a:latin typeface="Inter"/>
                <a:ea typeface="Inter"/>
                <a:cs typeface="Inter"/>
                <a:sym typeface="Inter"/>
              </a:rPr>
              <a:t> The architecture ensures that the Server only exposes specific resources (Prompts, Resources, Tools) that are explicitly defined, preventing the AI from accessing arbitrary system files or unauthorized data.</a:t>
            </a:r>
            <a:endParaRPr/>
          </a:p>
        </p:txBody>
      </p:sp>
      <p:pic>
        <p:nvPicPr>
          <p:cNvPr descr="image.png" id="182" name="Google Shape;182;p19"/>
          <p:cNvPicPr preferRelativeResize="0"/>
          <p:nvPr/>
        </p:nvPicPr>
        <p:blipFill rotWithShape="1">
          <a:blip r:embed="rId5">
            <a:alphaModFix/>
          </a:blip>
          <a:srcRect b="0" l="0" r="0" t="0"/>
          <a:stretch/>
        </p:blipFill>
        <p:spPr>
          <a:xfrm>
            <a:off x="5934075" y="1347787"/>
            <a:ext cx="6057900" cy="4933950"/>
          </a:xfrm>
          <a:prstGeom prst="rect">
            <a:avLst/>
          </a:prstGeom>
          <a:noFill/>
          <a:ln>
            <a:noFill/>
          </a:ln>
        </p:spPr>
      </p:pic>
      <p:sp>
        <p:nvSpPr>
          <p:cNvPr id="183" name="Google Shape;183;p19"/>
          <p:cNvSpPr txBox="1"/>
          <p:nvPr/>
        </p:nvSpPr>
        <p:spPr>
          <a:xfrm>
            <a:off x="571500" y="161686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84" name="Google Shape;184;p19"/>
          <p:cNvSpPr txBox="1"/>
          <p:nvPr/>
        </p:nvSpPr>
        <p:spPr>
          <a:xfrm>
            <a:off x="571500" y="2706290"/>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85" name="Google Shape;185;p19"/>
          <p:cNvSpPr txBox="1"/>
          <p:nvPr/>
        </p:nvSpPr>
        <p:spPr>
          <a:xfrm>
            <a:off x="571500" y="379571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186" name="Google Shape;186;p19"/>
          <p:cNvSpPr txBox="1"/>
          <p:nvPr/>
        </p:nvSpPr>
        <p:spPr>
          <a:xfrm>
            <a:off x="571500" y="488513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descr="Can you make an infographic slide for mcp" id="191" name="Google Shape;191;p20"/>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pic>
        <p:nvPicPr>
          <p:cNvPr descr="image.png" id="196" name="Google Shape;196;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7" name="Google Shape;197;p21"/>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198" name="Google Shape;198;p21"/>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Visualizing the Connectivity Matrix</a:t>
            </a:r>
            <a:endParaRPr/>
          </a:p>
        </p:txBody>
      </p:sp>
      <p:sp>
        <p:nvSpPr>
          <p:cNvPr id="199" name="Google Shape;199;p21"/>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21"/>
          <p:cNvSpPr txBox="1"/>
          <p:nvPr/>
        </p:nvSpPr>
        <p:spPr>
          <a:xfrm>
            <a:off x="800100" y="1635918"/>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The "Many-to-Many" Challenge:</a:t>
            </a:r>
            <a:r>
              <a:rPr b="0" i="0" lang="en-US" sz="1200" u="none" cap="none" strike="noStrike">
                <a:solidFill>
                  <a:srgbClr val="1E293B"/>
                </a:solidFill>
                <a:latin typeface="Inter"/>
                <a:ea typeface="Inter"/>
                <a:cs typeface="Inter"/>
                <a:sym typeface="Inter"/>
              </a:rPr>
              <a:t> Without a standard protocol, connecting 5 different AI clients to 10 different data sources requires building and maintaining 50 unique integrations. This is the spaghetti code shown in the "Before" state.</a:t>
            </a:r>
            <a:endParaRPr/>
          </a:p>
        </p:txBody>
      </p:sp>
      <p:sp>
        <p:nvSpPr>
          <p:cNvPr id="201" name="Google Shape;201;p21"/>
          <p:cNvSpPr txBox="1"/>
          <p:nvPr/>
        </p:nvSpPr>
        <p:spPr>
          <a:xfrm>
            <a:off x="800100" y="2725340"/>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The Hub-and-Spoke Solution:</a:t>
            </a:r>
            <a:r>
              <a:rPr b="0" i="0" lang="en-US" sz="1200" u="none" cap="none" strike="noStrike">
                <a:solidFill>
                  <a:srgbClr val="1E293B"/>
                </a:solidFill>
                <a:latin typeface="Inter"/>
                <a:ea typeface="Inter"/>
                <a:cs typeface="Inter"/>
                <a:sym typeface="Inter"/>
              </a:rPr>
              <a:t> MCP introduces a unified connectivity layer. The infographic visually demonstrates how all clients connect to the protocol, and the protocol connects to all servers.</a:t>
            </a:r>
            <a:endParaRPr/>
          </a:p>
        </p:txBody>
      </p:sp>
      <p:sp>
        <p:nvSpPr>
          <p:cNvPr id="202" name="Google Shape;202;p21"/>
          <p:cNvSpPr txBox="1"/>
          <p:nvPr/>
        </p:nvSpPr>
        <p:spPr>
          <a:xfrm>
            <a:off x="800100" y="3814762"/>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Complexity Reduction:</a:t>
            </a:r>
            <a:r>
              <a:rPr b="0" i="0" lang="en-US" sz="1200" u="none" cap="none" strike="noStrike">
                <a:solidFill>
                  <a:srgbClr val="1E293B"/>
                </a:solidFill>
                <a:latin typeface="Inter"/>
                <a:ea typeface="Inter"/>
                <a:cs typeface="Inter"/>
                <a:sym typeface="Inter"/>
              </a:rPr>
              <a:t> This architecture transforms the complexity from a multiplicative factor (N x M) to an additive one (N + M). Adding a new data source now makes it instantly available to every connected AI agent.</a:t>
            </a:r>
            <a:endParaRPr/>
          </a:p>
        </p:txBody>
      </p:sp>
      <p:sp>
        <p:nvSpPr>
          <p:cNvPr id="203" name="Google Shape;203;p21"/>
          <p:cNvSpPr txBox="1"/>
          <p:nvPr/>
        </p:nvSpPr>
        <p:spPr>
          <a:xfrm>
            <a:off x="800100" y="4904184"/>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Portability &amp; Future-Proofing:</a:t>
            </a:r>
            <a:r>
              <a:rPr b="0" i="0" lang="en-US" sz="1200" u="none" cap="none" strike="noStrike">
                <a:solidFill>
                  <a:srgbClr val="1E293B"/>
                </a:solidFill>
                <a:latin typeface="Inter"/>
                <a:ea typeface="Inter"/>
                <a:cs typeface="Inter"/>
                <a:sym typeface="Inter"/>
              </a:rPr>
              <a:t> As visualised, this modular design allows enterprises to swap out LLM providers or database technologies without tearing down the entire integration infrastructure.</a:t>
            </a:r>
            <a:endParaRPr/>
          </a:p>
        </p:txBody>
      </p:sp>
      <p:pic>
        <p:nvPicPr>
          <p:cNvPr descr="image.png" id="204" name="Google Shape;204;p21"/>
          <p:cNvPicPr preferRelativeResize="0"/>
          <p:nvPr/>
        </p:nvPicPr>
        <p:blipFill rotWithShape="1">
          <a:blip r:embed="rId5">
            <a:alphaModFix/>
          </a:blip>
          <a:srcRect b="0" l="0" r="0" t="0"/>
          <a:stretch/>
        </p:blipFill>
        <p:spPr>
          <a:xfrm>
            <a:off x="5934075" y="1347787"/>
            <a:ext cx="6057900" cy="4933950"/>
          </a:xfrm>
          <a:prstGeom prst="rect">
            <a:avLst/>
          </a:prstGeom>
          <a:noFill/>
          <a:ln>
            <a:noFill/>
          </a:ln>
        </p:spPr>
      </p:pic>
      <p:sp>
        <p:nvSpPr>
          <p:cNvPr id="205" name="Google Shape;205;p21"/>
          <p:cNvSpPr txBox="1"/>
          <p:nvPr/>
        </p:nvSpPr>
        <p:spPr>
          <a:xfrm>
            <a:off x="571500" y="161686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06" name="Google Shape;206;p21"/>
          <p:cNvSpPr txBox="1"/>
          <p:nvPr/>
        </p:nvSpPr>
        <p:spPr>
          <a:xfrm>
            <a:off x="571500" y="2706290"/>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07" name="Google Shape;207;p21"/>
          <p:cNvSpPr txBox="1"/>
          <p:nvPr/>
        </p:nvSpPr>
        <p:spPr>
          <a:xfrm>
            <a:off x="571500" y="379571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08" name="Google Shape;208;p21"/>
          <p:cNvSpPr txBox="1"/>
          <p:nvPr/>
        </p:nvSpPr>
        <p:spPr>
          <a:xfrm>
            <a:off x="571500" y="488513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pic>
        <p:nvPicPr>
          <p:cNvPr descr="image.png" id="213" name="Google Shape;213;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4" name="Google Shape;214;p22"/>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215" name="Google Shape;215;p22"/>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Secure Integration &amp; Internal Systems</a:t>
            </a:r>
            <a:endParaRPr/>
          </a:p>
        </p:txBody>
      </p:sp>
      <p:sp>
        <p:nvSpPr>
          <p:cNvPr id="216" name="Google Shape;216;p22"/>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2"/>
          <p:cNvSpPr txBox="1"/>
          <p:nvPr/>
        </p:nvSpPr>
        <p:spPr>
          <a:xfrm>
            <a:off x="800100" y="1514028"/>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Identity Propagation:</a:t>
            </a:r>
            <a:r>
              <a:rPr b="0" i="0" lang="en-US" sz="1200" u="none" cap="none" strike="noStrike">
                <a:solidFill>
                  <a:srgbClr val="1E293B"/>
                </a:solidFill>
                <a:latin typeface="Inter"/>
                <a:ea typeface="Inter"/>
                <a:cs typeface="Inter"/>
                <a:sym typeface="Inter"/>
              </a:rPr>
              <a:t> In an enterprise setting, an agent must not have "super-admin" access. We utilize OBO (On-Behalf-Of) flows to ensure the agent inherits the exact identity and permissions of the user interacting with it.</a:t>
            </a:r>
            <a:endParaRPr/>
          </a:p>
        </p:txBody>
      </p:sp>
      <p:sp>
        <p:nvSpPr>
          <p:cNvPr id="218" name="Google Shape;218;p22"/>
          <p:cNvSpPr txBox="1"/>
          <p:nvPr/>
        </p:nvSpPr>
        <p:spPr>
          <a:xfrm>
            <a:off x="800100" y="2603450"/>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Role-Based Access Control (RBAC):</a:t>
            </a:r>
            <a:r>
              <a:rPr b="0" i="0" lang="en-US" sz="1200" u="none" cap="none" strike="noStrike">
                <a:solidFill>
                  <a:srgbClr val="1E293B"/>
                </a:solidFill>
                <a:latin typeface="Inter"/>
                <a:ea typeface="Inter"/>
                <a:cs typeface="Inter"/>
                <a:sym typeface="Inter"/>
              </a:rPr>
              <a:t> The integration layer checks permissions at query time. If a user asks for "Q3 Financials," the agent's retrieval tool verifies if that specific user ID is authorized to view that document before fetching it.</a:t>
            </a:r>
            <a:endParaRPr/>
          </a:p>
        </p:txBody>
      </p:sp>
      <p:sp>
        <p:nvSpPr>
          <p:cNvPr id="219" name="Google Shape;219;p22"/>
          <p:cNvSpPr txBox="1"/>
          <p:nvPr/>
        </p:nvSpPr>
        <p:spPr>
          <a:xfrm>
            <a:off x="800100" y="3692872"/>
            <a:ext cx="4743450" cy="12189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Least Privilege Tooling:</a:t>
            </a:r>
            <a:r>
              <a:rPr b="0" i="0" lang="en-US" sz="1200" u="none" cap="none" strike="noStrike">
                <a:solidFill>
                  <a:srgbClr val="1E293B"/>
                </a:solidFill>
                <a:latin typeface="Inter"/>
                <a:ea typeface="Inter"/>
                <a:cs typeface="Inter"/>
                <a:sym typeface="Inter"/>
              </a:rPr>
              <a:t> Tools provided to the agent should be scoped narrowly. Instead of a generic `exec_sql_query` tool, provide specific, parameterized tools like `get_customer_balance(id)` to prevent prompt injection attacks like SQL injection.</a:t>
            </a:r>
            <a:endParaRPr/>
          </a:p>
        </p:txBody>
      </p:sp>
      <p:sp>
        <p:nvSpPr>
          <p:cNvPr id="220" name="Google Shape;220;p22"/>
          <p:cNvSpPr txBox="1"/>
          <p:nvPr/>
        </p:nvSpPr>
        <p:spPr>
          <a:xfrm>
            <a:off x="800100" y="5026074"/>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Audit Trails:</a:t>
            </a:r>
            <a:r>
              <a:rPr b="0" i="0" lang="en-US" sz="1200" u="none" cap="none" strike="noStrike">
                <a:solidFill>
                  <a:srgbClr val="1E293B"/>
                </a:solidFill>
                <a:latin typeface="Inter"/>
                <a:ea typeface="Inter"/>
                <a:cs typeface="Inter"/>
                <a:sym typeface="Inter"/>
              </a:rPr>
              <a:t> Every decision made by the agent, every tool called, and every document retrieved must be logged immutably. This observability is critical for compliance, allowing security teams to reconstruct exactly </a:t>
            </a:r>
            <a:r>
              <a:rPr b="0" i="1" lang="en-US" sz="1200" u="none" cap="none" strike="noStrike">
                <a:solidFill>
                  <a:srgbClr val="1E293B"/>
                </a:solidFill>
                <a:latin typeface="Inter"/>
                <a:ea typeface="Inter"/>
                <a:cs typeface="Inter"/>
                <a:sym typeface="Inter"/>
              </a:rPr>
              <a:t>why</a:t>
            </a:r>
            <a:r>
              <a:rPr b="0" i="0" lang="en-US" sz="1200" u="none" cap="none" strike="noStrike">
                <a:solidFill>
                  <a:srgbClr val="1E293B"/>
                </a:solidFill>
                <a:latin typeface="Inter"/>
                <a:ea typeface="Inter"/>
                <a:cs typeface="Inter"/>
                <a:sym typeface="Inter"/>
              </a:rPr>
              <a:t> an agent took a specific action.</a:t>
            </a:r>
            <a:endParaRPr/>
          </a:p>
        </p:txBody>
      </p:sp>
      <p:pic>
        <p:nvPicPr>
          <p:cNvPr descr="image.png" id="221" name="Google Shape;221;p22"/>
          <p:cNvPicPr preferRelativeResize="0"/>
          <p:nvPr/>
        </p:nvPicPr>
        <p:blipFill rotWithShape="1">
          <a:blip r:embed="rId5">
            <a:alphaModFix/>
          </a:blip>
          <a:srcRect b="0" l="0" r="0" t="0"/>
          <a:stretch/>
        </p:blipFill>
        <p:spPr>
          <a:xfrm>
            <a:off x="5934075" y="1347787"/>
            <a:ext cx="6057900" cy="4933950"/>
          </a:xfrm>
          <a:prstGeom prst="rect">
            <a:avLst/>
          </a:prstGeom>
          <a:noFill/>
          <a:ln>
            <a:noFill/>
          </a:ln>
        </p:spPr>
      </p:pic>
      <p:sp>
        <p:nvSpPr>
          <p:cNvPr id="222" name="Google Shape;222;p22"/>
          <p:cNvSpPr txBox="1"/>
          <p:nvPr/>
        </p:nvSpPr>
        <p:spPr>
          <a:xfrm>
            <a:off x="571500" y="149497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23" name="Google Shape;223;p22"/>
          <p:cNvSpPr txBox="1"/>
          <p:nvPr/>
        </p:nvSpPr>
        <p:spPr>
          <a:xfrm>
            <a:off x="571500" y="2584400"/>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24" name="Google Shape;224;p22"/>
          <p:cNvSpPr txBox="1"/>
          <p:nvPr/>
        </p:nvSpPr>
        <p:spPr>
          <a:xfrm>
            <a:off x="571500" y="367382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25" name="Google Shape;225;p22"/>
          <p:cNvSpPr txBox="1"/>
          <p:nvPr/>
        </p:nvSpPr>
        <p:spPr>
          <a:xfrm>
            <a:off x="571500" y="500702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descr="Can you make an infographic for RAG as well" id="230" name="Google Shape;230;p23"/>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pic>
        <p:nvPicPr>
          <p:cNvPr descr="image.png" id="235" name="Google Shape;235;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6" name="Google Shape;236;p24"/>
          <p:cNvPicPr preferRelativeResize="0"/>
          <p:nvPr/>
        </p:nvPicPr>
        <p:blipFill rotWithShape="1">
          <a:blip r:embed="rId4">
            <a:alphaModFix/>
          </a:blip>
          <a:srcRect b="0" l="0" r="0" t="0"/>
          <a:stretch/>
        </p:blipFill>
        <p:spPr>
          <a:xfrm>
            <a:off x="5924550" y="1338262"/>
            <a:ext cx="6076950" cy="4953000"/>
          </a:xfrm>
          <a:prstGeom prst="rect">
            <a:avLst/>
          </a:prstGeom>
          <a:noFill/>
          <a:ln>
            <a:noFill/>
          </a:ln>
        </p:spPr>
      </p:pic>
      <p:sp>
        <p:nvSpPr>
          <p:cNvPr id="237" name="Google Shape;237;p24"/>
          <p:cNvSpPr txBox="1"/>
          <p:nvPr/>
        </p:nvSpPr>
        <p:spPr>
          <a:xfrm>
            <a:off x="571500" y="381000"/>
            <a:ext cx="116014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8B0000"/>
                </a:solidFill>
                <a:latin typeface="Inter"/>
                <a:ea typeface="Inter"/>
                <a:cs typeface="Inter"/>
                <a:sym typeface="Inter"/>
              </a:rPr>
              <a:t>RAG Architecture &amp; Vector Ingest</a:t>
            </a:r>
            <a:endParaRPr/>
          </a:p>
        </p:txBody>
      </p:sp>
      <p:sp>
        <p:nvSpPr>
          <p:cNvPr id="238" name="Google Shape;238;p24"/>
          <p:cNvSpPr/>
          <p:nvPr/>
        </p:nvSpPr>
        <p:spPr>
          <a:xfrm>
            <a:off x="571500" y="942975"/>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4"/>
          <p:cNvSpPr txBox="1"/>
          <p:nvPr/>
        </p:nvSpPr>
        <p:spPr>
          <a:xfrm>
            <a:off x="800100" y="1392138"/>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ETL for Unstructured Data:</a:t>
            </a:r>
            <a:r>
              <a:rPr b="0" i="0" lang="en-US" sz="1200" u="none" cap="none" strike="noStrike">
                <a:solidFill>
                  <a:srgbClr val="1E293B"/>
                </a:solidFill>
                <a:latin typeface="Inter"/>
                <a:ea typeface="Inter"/>
                <a:cs typeface="Inter"/>
                <a:sym typeface="Inter"/>
              </a:rPr>
              <a:t> The pipeline begins with Extract-Transform-Load (ETL) processes that ingest raw data from diverse sources like SharePoint, Confluence, Google Drive, and local file servers.</a:t>
            </a:r>
            <a:endParaRPr/>
          </a:p>
        </p:txBody>
      </p:sp>
      <p:sp>
        <p:nvSpPr>
          <p:cNvPr id="240" name="Google Shape;240;p24"/>
          <p:cNvSpPr txBox="1"/>
          <p:nvPr/>
        </p:nvSpPr>
        <p:spPr>
          <a:xfrm>
            <a:off x="800100" y="2481560"/>
            <a:ext cx="4743450" cy="12189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Smart Chunking:</a:t>
            </a:r>
            <a:r>
              <a:rPr b="0" i="0" lang="en-US" sz="1200" u="none" cap="none" strike="noStrike">
                <a:solidFill>
                  <a:srgbClr val="1E293B"/>
                </a:solidFill>
                <a:latin typeface="Inter"/>
                <a:ea typeface="Inter"/>
                <a:cs typeface="Inter"/>
                <a:sym typeface="Inter"/>
              </a:rPr>
              <a:t> Large documents are split into smaller segments. Advanced strategies use "semantic chunking" or "parent-child indexing" to ensure that chunks retain enough context to be meaningful on their own while staying small enough for the LLM.</a:t>
            </a:r>
            <a:endParaRPr/>
          </a:p>
        </p:txBody>
      </p:sp>
      <p:sp>
        <p:nvSpPr>
          <p:cNvPr id="241" name="Google Shape;241;p24"/>
          <p:cNvSpPr txBox="1"/>
          <p:nvPr/>
        </p:nvSpPr>
        <p:spPr>
          <a:xfrm>
            <a:off x="800100" y="3814762"/>
            <a:ext cx="474345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Vector Embeddings:</a:t>
            </a:r>
            <a:r>
              <a:rPr b="0" i="0" lang="en-US" sz="1200" u="none" cap="none" strike="noStrike">
                <a:solidFill>
                  <a:srgbClr val="1E293B"/>
                </a:solidFill>
                <a:latin typeface="Inter"/>
                <a:ea typeface="Inter"/>
                <a:cs typeface="Inter"/>
                <a:sym typeface="Inter"/>
              </a:rPr>
              <a:t> We use specialized embedding models (e.g., OpenAI text-embedding-3, Cohere) to convert text chunks into high-dimensional vectors (lists of numbers) that represent their semantic concept.</a:t>
            </a:r>
            <a:endParaRPr/>
          </a:p>
        </p:txBody>
      </p:sp>
      <p:sp>
        <p:nvSpPr>
          <p:cNvPr id="242" name="Google Shape;242;p24"/>
          <p:cNvSpPr txBox="1"/>
          <p:nvPr/>
        </p:nvSpPr>
        <p:spPr>
          <a:xfrm>
            <a:off x="800100" y="4904184"/>
            <a:ext cx="4743450" cy="121890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0F172A"/>
                </a:solidFill>
                <a:latin typeface="Inter"/>
                <a:ea typeface="Inter"/>
                <a:cs typeface="Inter"/>
                <a:sym typeface="Inter"/>
              </a:rPr>
              <a:t>Vector Database Indexing:</a:t>
            </a:r>
            <a:r>
              <a:rPr b="0" i="0" lang="en-US" sz="1200" u="none" cap="none" strike="noStrike">
                <a:solidFill>
                  <a:srgbClr val="1E293B"/>
                </a:solidFill>
                <a:latin typeface="Inter"/>
                <a:ea typeface="Inter"/>
                <a:cs typeface="Inter"/>
                <a:sym typeface="Inter"/>
              </a:rPr>
              <a:t> These vectors are stored in a Vector DB (Pinecone, Milvus, Weaviate). When a query comes in, it is also vectorized, and the database performs a "Nearest Neighbor" search to find the most conceptually similar content in milliseconds.</a:t>
            </a:r>
            <a:endParaRPr/>
          </a:p>
        </p:txBody>
      </p:sp>
      <p:pic>
        <p:nvPicPr>
          <p:cNvPr descr="image.png" id="243" name="Google Shape;243;p24"/>
          <p:cNvPicPr preferRelativeResize="0"/>
          <p:nvPr/>
        </p:nvPicPr>
        <p:blipFill rotWithShape="1">
          <a:blip r:embed="rId5">
            <a:alphaModFix/>
          </a:blip>
          <a:srcRect b="0" l="0" r="0" t="0"/>
          <a:stretch/>
        </p:blipFill>
        <p:spPr>
          <a:xfrm>
            <a:off x="5934075" y="1347787"/>
            <a:ext cx="6057900" cy="4933950"/>
          </a:xfrm>
          <a:prstGeom prst="rect">
            <a:avLst/>
          </a:prstGeom>
          <a:noFill/>
          <a:ln>
            <a:noFill/>
          </a:ln>
        </p:spPr>
      </p:pic>
      <p:sp>
        <p:nvSpPr>
          <p:cNvPr id="244" name="Google Shape;244;p24"/>
          <p:cNvSpPr txBox="1"/>
          <p:nvPr/>
        </p:nvSpPr>
        <p:spPr>
          <a:xfrm>
            <a:off x="571500" y="1373088"/>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45" name="Google Shape;245;p24"/>
          <p:cNvSpPr txBox="1"/>
          <p:nvPr/>
        </p:nvSpPr>
        <p:spPr>
          <a:xfrm>
            <a:off x="571500" y="2462510"/>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46" name="Google Shape;246;p24"/>
          <p:cNvSpPr txBox="1"/>
          <p:nvPr/>
        </p:nvSpPr>
        <p:spPr>
          <a:xfrm>
            <a:off x="571500" y="3795712"/>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
        <p:nvSpPr>
          <p:cNvPr id="247" name="Google Shape;247;p24"/>
          <p:cNvSpPr txBox="1"/>
          <p:nvPr/>
        </p:nvSpPr>
        <p:spPr>
          <a:xfrm>
            <a:off x="571500" y="4885134"/>
            <a:ext cx="1047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DC2626"/>
                </a:solidFill>
                <a:latin typeface="Inter"/>
                <a:ea typeface="Inter"/>
                <a:cs typeface="Inter"/>
                <a:sym typeface="Inter"/>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