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Commons Pro Expanded Bold" charset="1" panose="020B0103030102020204"/>
      <p:regular r:id="rId23"/>
    </p:embeddedFont>
    <p:embeddedFont>
      <p:font typeface="TT Commons Pro" charset="1" panose="020B0103030102020204"/>
      <p:regular r:id="rId24"/>
    </p:embeddedFont>
    <p:embeddedFont>
      <p:font typeface="TT Commons Pro Bold" charset="1" panose="020B01030301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16250" y="2571750"/>
            <a:ext cx="5143500" cy="8036276"/>
            <a:chOff x="0" y="0"/>
            <a:chExt cx="660400" cy="1031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1031818"/>
            </a:xfrm>
            <a:custGeom>
              <a:avLst/>
              <a:gdLst/>
              <a:ahLst/>
              <a:cxnLst/>
              <a:rect r="r" b="b" t="t" l="l"/>
              <a:pathLst>
                <a:path h="10318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367"/>
                  </a:cubicBezTo>
                  <a:lnTo>
                    <a:pt x="660400" y="1031818"/>
                  </a:lnTo>
                  <a:lnTo>
                    <a:pt x="0" y="1031818"/>
                  </a:lnTo>
                  <a:lnTo>
                    <a:pt x="0" y="33388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CA5A2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660400" cy="876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16250" y="77152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144500" y="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2571750" y="2571750"/>
                </a:moveTo>
                <a:lnTo>
                  <a:pt x="0" y="2571750"/>
                </a:lnTo>
                <a:lnTo>
                  <a:pt x="0" y="0"/>
                </a:lnTo>
                <a:lnTo>
                  <a:pt x="2571750" y="0"/>
                </a:lnTo>
                <a:lnTo>
                  <a:pt x="2571750" y="25717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144500" y="25717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2571750" y="2571750"/>
                </a:moveTo>
                <a:lnTo>
                  <a:pt x="0" y="2571750"/>
                </a:lnTo>
                <a:lnTo>
                  <a:pt x="0" y="0"/>
                </a:lnTo>
                <a:lnTo>
                  <a:pt x="2571750" y="0"/>
                </a:lnTo>
                <a:lnTo>
                  <a:pt x="2571750" y="25717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5716250" y="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2571750" y="2571750"/>
                </a:moveTo>
                <a:lnTo>
                  <a:pt x="0" y="2571750"/>
                </a:lnTo>
                <a:lnTo>
                  <a:pt x="0" y="0"/>
                </a:lnTo>
                <a:lnTo>
                  <a:pt x="2571750" y="0"/>
                </a:lnTo>
                <a:lnTo>
                  <a:pt x="2571750" y="25717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58625" y="6052791"/>
            <a:ext cx="4776373" cy="5878613"/>
            <a:chOff x="0" y="0"/>
            <a:chExt cx="660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5575"/>
              <a:ext cx="660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10830" y="6914788"/>
            <a:ext cx="2871963" cy="2871963"/>
          </a:xfrm>
          <a:custGeom>
            <a:avLst/>
            <a:gdLst/>
            <a:ahLst/>
            <a:cxnLst/>
            <a:rect r="r" b="b" t="t" l="l"/>
            <a:pathLst>
              <a:path h="2871963" w="2871963">
                <a:moveTo>
                  <a:pt x="0" y="0"/>
                </a:moveTo>
                <a:lnTo>
                  <a:pt x="2871963" y="0"/>
                </a:lnTo>
                <a:lnTo>
                  <a:pt x="2871963" y="2871964"/>
                </a:lnTo>
                <a:lnTo>
                  <a:pt x="0" y="28719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028700" y="3155465"/>
            <a:ext cx="9691186" cy="3976070"/>
            <a:chOff x="0" y="0"/>
            <a:chExt cx="12921582" cy="530142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5250"/>
              <a:ext cx="12921582" cy="1928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999"/>
                </a:lnSpc>
                <a:spcBef>
                  <a:spcPct val="0"/>
                </a:spcBef>
              </a:pPr>
              <a:r>
                <a:rPr lang="en-US" b="true" sz="9999" strike="noStrike" u="none">
                  <a:solidFill>
                    <a:srgbClr val="000000"/>
                  </a:solidFill>
                  <a:latin typeface="TT Commons Pro Expanded Bold"/>
                  <a:ea typeface="TT Commons Pro Expanded Bold"/>
                  <a:cs typeface="TT Commons Pro Expanded Bold"/>
                  <a:sym typeface="TT Commons Pro Expanded Bold"/>
                </a:rPr>
                <a:t>Agentic AI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367727"/>
              <a:ext cx="12921582" cy="293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50"/>
                </a:lnSpc>
                <a:spcBef>
                  <a:spcPct val="0"/>
                </a:spcBef>
              </a:pPr>
              <a:r>
                <a:rPr lang="en-US" sz="4500" strike="noStrike" u="none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The Next Frontier in AI </a:t>
              </a:r>
            </a:p>
            <a:p>
              <a:pPr algn="l" marL="0" indent="0" lvl="0">
                <a:lnSpc>
                  <a:spcPts val="585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850"/>
                </a:lnSpc>
                <a:spcBef>
                  <a:spcPct val="0"/>
                </a:spcBef>
              </a:pPr>
              <a:r>
                <a:rPr lang="en-US" sz="4500" strike="noStrike" u="none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By Arjun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449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Ag</a:t>
            </a:r>
            <a:r>
              <a:rPr lang="en-US" b="true" sz="80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enda</a:t>
            </a:r>
          </a:p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10068118" cy="367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Overview: Lar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ge Language Models (LLMs) and their evolution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LLM Limitations: Why treat LLMs as tools vs agents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Agen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ic AI: Defi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iti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 and key features (autonomy, planning, memory, tool use)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Architecture: Conceptual framework of an AI agent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Fintech Examples: 1) Autonomous customer support, 2) Fraud detection pipeline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Implications: What engineers need to consider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Conclusion &amp; Outlook 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What Ar</a:t>
            </a:r>
            <a:r>
              <a:rPr lang="en-US" b="true" sz="80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 LLMs?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552154" cy="326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LLMs ar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 deep neural networks trained on massive text corpora to predict the next word/token in a seque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nces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They leverage Transformer architecture, using self-attention to capture relationships across an entire input sequences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model’s size (parameters) and training data greatly affect capabilitys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Examples: GPT-3, GPT-4, BERT – used for translation, summarization, code generation, etc.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How</a:t>
            </a:r>
            <a:r>
              <a:rPr lang="en-US" b="true" sz="80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 LLMs Work &amp; Evolve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3627910"/>
            <a:ext cx="9713393" cy="408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Transform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er encoder-decoder: processes all input tokens in parallel, building contextual embeddings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Scale: More parameters and data = better li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nguistic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and factual accuracy.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Context window: Early LLMs saw ~2K tokens (words); modern ones handle tens of thousands, giving short-term “memory”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Training: Pretraining on web data followed by fine-tuning (and often RLHF) for task alignment.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Output: LLMs are excellent at generation (text, code) and pattern recognition, but only as specified by their training data. 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Limitations of</a:t>
            </a:r>
            <a:r>
              <a:rPr lang="en-US" b="true" sz="59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 LLMs (as Tools)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572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Reactive, not proactive: LLMs only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respond to explicit prompts; they cannot autonomously decide to start a task or pursue a goalibm.com.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Stateless (short-term “memory”): No persistent state beyond the curre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nt context window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They don’t remember previous interactions across sessions.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No inherent planning: Generate text token-by-token without an explicit strategy or multi-step plan. They excel at single-step generation, but struggle with multi-step reasoning unless guided.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Hallucinations: May produce confident-sounding but incorrect or nonsensical answers without factual grounding.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Limited World Understanding: Their knowledge is fixed at training time (knowledge cutoff) and they lack real-time access to the external world unless connected to tools. 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8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What is Agentic</a:t>
            </a:r>
            <a:r>
              <a:rPr lang="en-US" b="true" sz="59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 AI?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531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Definition: AI syst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ems with agency – they can autonomously make decisions and perform tasks toward goals without continuous human oversight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Goal-oriented: Agentic AIs are focused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on ac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hieving objectives through multi-step reasoning, rather than only generating content.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Blends paradigms: They combine LLM capabilities (language understanding/generation) with structured planning, statefulness, and control logic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Contrast: Unlike a ChatGPT-style model (just Q&amp;A), an agentic AI can take initiative, call APIs, and adapt to new situations.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Early examples: Virtual assistants that schedule meetings, task-specific agents that monitor and act (e.g., automated devops scripts), and, in future, fully autonomous robots or software agents. 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8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Key Features of Agentic</a:t>
            </a:r>
            <a:r>
              <a:rPr lang="en-US" b="true" sz="59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 AI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531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Autonomy: Operat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es with minimal human prompting; can initiate and adapt actions independently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Plan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ing: Decomposes goals into multi-step plans (e.g., sub-tasks) and reasons over future steps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Persistent Memory: Maintains context and knowledge over time (short-term and long-term memory modules). This enables stateful behavior (e.g., remember past user preferences).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Tool/Environment Interaction: Can invoke external tools, APIs, and databases to carry out. For example, execute code, query live data, or send messages.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Learning &amp; Adaptation: Continuously improves via feedback or reinforcement learning; updates strategies based on new data Agents evolve their behavior as they gather more experience.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Agentic AI vs. Generative</a:t>
            </a:r>
            <a:r>
              <a:rPr lang="en-US" b="true" sz="5900" strike="noStrike" u="none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695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Reactive vs Proactive: Standard LLMs (Generativ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 AI) are reactive – they wait for prompts. Agentic AI is proactive – it can take initiative to pursue its goals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Content vs Decisions: Generative AI focuses on creating content (text, images) in response to input. Agentic AI focuses on decision-making and problem-solving, using content generation only as a subtask.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Single-turn vs Multi-turn: A generative model answers one question at a time. An agent maintains a dialogue or plan state over multiple turns, keeping track of progress.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Environment Interaction: Agents continuously interact with the environment; LLMs-as-tools typically do not (unless wrapped with extra code).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Example: ChatGPT (gen AI) won’t spontaneously rebalance your investment portfolio. An agentic system could monitor your portfolio daily and execute trades according to your strategy, with minimal prompts. 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Conceptual Architecture of an AI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572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Perception/Input: Gath</a:t>
            </a: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ers data (user input, documents, sensor data) and preprocesses it (feature extraction)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Reason/Planning: A core LLM “brain” interprets goals and generates a plan. It may use techniques like chain-of-thought or RAG (retrieval-augmented generation) to form solutions.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Memory Store: Maintains context (short-term) and knowledge (long-term). This could be an in-memory buffer or an external database of facts and past interactions.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Action/Tools: Executes the plan by calling tools – e.g., code execution, database queries, or REST APIs. This step has built-in guardrails or validators to ensure safe execution.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Feedback Loop: Monitors outcomes, gets new inputs, and feeds them back to the planner. This loop enables learning and adaptation over time. 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Example 1 – Autonomous Fintech Customer Support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613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Scenario: An agentic assistant handles customer inquiries (balances, payments, troubleshooting) without human handoff.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Action Workflow: It parses a query (e.g., “How much do I owe?”), retrieves account data via APIs, and responds or takes action. For example, it might “check the outstanding balance and suggest which account to debit for a payment” autonomously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Multi-turn dialogue: Keeps context (customer name, prior questions) in memory to follow up and clarify, rather than starting each response from scratch.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Tool integration: Connects to banking systems (transaction API, CRM database, etc.) to execute tasks (initiate a transfer, set up reminders). 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Benefits: 24/7 personalized support, faster resolution, and humans see only the exceptions. Early adopters like banks are already using AI to personalize customer service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Example 2 – Fintech Fraud Detection Agent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654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Scenario: A network of AI agents continuously monitors transactions and accounts for fraud, collaborating in real time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Agent Roles: For instance, Agent 1 verifies user identity (biometrics/device data); Agent 2 scores transaction risk using history and contextual data; Agent 3 intervenes (pauses/flags) if risk is high; Agent 4 (investigator) generates a report if needed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Collaboration: Agents share data and pass tasks along automatically. E.g., one agent’s suspicious flag triggers another agent to compose an alert or report for human review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Speed &amp; Accuracy: The entire pipeline operates in seconds to block fraud and minimize loss. Over time, agents continuously learn from new fraud patterns, reducing false positives and improving detection</a:t>
            </a:r>
          </a:p>
          <a:p>
            <a:pPr algn="l" marL="539754" indent="-269877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Outcome: A mostly autonomous fraud monitoring system that handles routine cases and escalates only the novel or severe ones to human analysts.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1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Implications for Software Engineers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630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System Integration: Engineers must combine LLMs with databases, APIs, and custom code into a cohesive pipeline. It’s not just a model call – it’s a system design problem.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Tool &amp; API Use: Embed proper guardrails. For example, validate any API calls an agent makes (Nvidia suggests limits like “auto-approve transactions only under $X” to ensure safety).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Data Governance: Ensure data privacy and compliance. Agents will access sensitive financial data, so enforce encryption, anonymization, and audit logging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Explainability &amp; Auditing: In fintech, actions must be explainable. Log the agent’s decision process and maintain clear records for regulators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Development Approach: Start small and iterative. Pilot agents on low-risk tasks (e.g., internal reporting) and gradually scale up. Build monitoring to catch failures and involve humans in the loop during testing.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Skillsets: Engineers should be familiar with techniques like RAG (for knowledge retrieval), Reinforcement Learning, and system orchestration tools (e.g., workflow engines, Docker, etc.)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1" y="2941874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3"/>
                </a:lnTo>
                <a:lnTo>
                  <a:pt x="0" y="29418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5883747"/>
            <a:ext cx="2941874" cy="4403253"/>
            <a:chOff x="0" y="0"/>
            <a:chExt cx="812800" cy="1216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16559"/>
            </a:xfrm>
            <a:custGeom>
              <a:avLst/>
              <a:gdLst/>
              <a:ahLst/>
              <a:cxnLst/>
              <a:rect r="r" b="b" t="t" l="l"/>
              <a:pathLst>
                <a:path h="12165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16559"/>
                  </a:lnTo>
                  <a:lnTo>
                    <a:pt x="0" y="1216559"/>
                  </a:lnTo>
                  <a:close/>
                </a:path>
              </a:pathLst>
            </a:custGeom>
            <a:solidFill>
              <a:srgbClr val="F8EB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12800" cy="1187984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5331209"/>
            <a:ext cx="5143500" cy="7854181"/>
            <a:chOff x="0" y="0"/>
            <a:chExt cx="660400" cy="1008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08438"/>
            </a:xfrm>
            <a:custGeom>
              <a:avLst/>
              <a:gdLst/>
              <a:ahLst/>
              <a:cxnLst/>
              <a:rect r="r" b="b" t="t" l="l"/>
              <a:pathLst>
                <a:path h="100843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848"/>
                  </a:cubicBezTo>
                  <a:lnTo>
                    <a:pt x="660400" y="1008438"/>
                  </a:lnTo>
                  <a:lnTo>
                    <a:pt x="0" y="1008438"/>
                  </a:lnTo>
                  <a:lnTo>
                    <a:pt x="0" y="33334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660400" cy="85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2941874" cy="2941874"/>
          </a:xfrm>
          <a:custGeom>
            <a:avLst/>
            <a:gdLst/>
            <a:ahLst/>
            <a:cxnLst/>
            <a:rect r="r" b="b" t="t" l="l"/>
            <a:pathLst>
              <a:path h="2941874" w="2941874">
                <a:moveTo>
                  <a:pt x="0" y="0"/>
                </a:moveTo>
                <a:lnTo>
                  <a:pt x="2941874" y="0"/>
                </a:lnTo>
                <a:lnTo>
                  <a:pt x="2941874" y="2941874"/>
                </a:lnTo>
                <a:lnTo>
                  <a:pt x="0" y="294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138" y="6315075"/>
            <a:ext cx="2943225" cy="2943225"/>
          </a:xfrm>
          <a:custGeom>
            <a:avLst/>
            <a:gdLst/>
            <a:ahLst/>
            <a:cxnLst/>
            <a:rect r="r" b="b" t="t" l="l"/>
            <a:pathLst>
              <a:path h="2943225" w="2943225">
                <a:moveTo>
                  <a:pt x="0" y="0"/>
                </a:moveTo>
                <a:lnTo>
                  <a:pt x="2943224" y="0"/>
                </a:lnTo>
                <a:lnTo>
                  <a:pt x="2943224" y="2943225"/>
                </a:lnTo>
                <a:lnTo>
                  <a:pt x="0" y="294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121400" y="1095375"/>
            <a:ext cx="10815892" cy="8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TT Commons Pro Expanded Bold"/>
                <a:ea typeface="TT Commons Pro Expanded Bold"/>
                <a:cs typeface="TT Commons Pro Expanded Bold"/>
                <a:sym typeface="TT Commons Pro Expanded Bold"/>
              </a:rPr>
              <a:t>Conclusion &amp; Outlook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400" y="2922824"/>
            <a:ext cx="9697269" cy="556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Summary: Agentic AI adds proactivity, planning, memory, and tool use to the LLM paradigm. It transforms LLMs from passive responders into active problem-solvers.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Impact: In fintech, this means automating complex workflows (like portfolio management or risk analysis) with reduced manual steps. Many experts predict autonomous agents will be central in finance by 2030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Challenges Ahead: Ensuring these systems are safe, accurate, and aligned with regulations remains critical. We still need robust human-in-the-loop design, bias mitigation, and continuous validation.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Future Directions: Expect advances in multi-agent coordination, persistent memory architectures, and better training (e.g., reinforcement learning, program synthesis). </a:t>
            </a:r>
          </a:p>
          <a:p>
            <a:pPr algn="l" marL="496575" indent="-248288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Takeaway: For software engineers, agentic AI is an emerging shift – stay informed and experiment with agent frameworks. The tools we build today will set the stage for tomorrow’s autonomous AI systems. 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4500" y="5143500"/>
            <a:ext cx="5143500" cy="5143500"/>
            <a:chOff x="0" y="0"/>
            <a:chExt cx="1414396" cy="14143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4396" cy="1414396"/>
            </a:xfrm>
            <a:custGeom>
              <a:avLst/>
              <a:gdLst/>
              <a:ahLst/>
              <a:cxnLst/>
              <a:rect r="r" b="b" t="t" l="l"/>
              <a:pathLst>
                <a:path h="1414396" w="1414396">
                  <a:moveTo>
                    <a:pt x="0" y="0"/>
                  </a:moveTo>
                  <a:lnTo>
                    <a:pt x="1414396" y="0"/>
                  </a:lnTo>
                  <a:lnTo>
                    <a:pt x="1414396" y="1414396"/>
                  </a:lnTo>
                  <a:lnTo>
                    <a:pt x="0" y="1414396"/>
                  </a:lnTo>
                  <a:close/>
                </a:path>
              </a:pathLst>
            </a:custGeom>
            <a:solidFill>
              <a:srgbClr val="AC401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414396" cy="1385821"/>
            </a:xfrm>
            <a:prstGeom prst="rect">
              <a:avLst/>
            </a:prstGeom>
          </p:spPr>
          <p:txBody>
            <a:bodyPr anchor="ctr" rtlCol="false" tIns="35719" lIns="35719" bIns="35719" rIns="35719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0"/>
            <a:ext cx="2571750" cy="25717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C40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42333" lIns="42333" bIns="42333" rIns="42333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44500" y="5143500"/>
            <a:ext cx="5143500" cy="5143500"/>
            <a:chOff x="0" y="0"/>
            <a:chExt cx="660400" cy="66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5117"/>
                  </a:cubicBezTo>
                  <a:lnTo>
                    <a:pt x="660400" y="660400"/>
                  </a:lnTo>
                  <a:lnTo>
                    <a:pt x="0" y="660400"/>
                  </a:lnTo>
                  <a:lnTo>
                    <a:pt x="0" y="3253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8EBD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55575"/>
              <a:ext cx="660400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716250" y="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44500" y="25717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3857625"/>
            <a:ext cx="9597488" cy="2727414"/>
            <a:chOff x="0" y="0"/>
            <a:chExt cx="12796651" cy="363655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274689"/>
              <a:ext cx="12796651" cy="1361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How might </a:t>
              </a:r>
              <a:r>
                <a:rPr lang="en-US" b="true" sz="3200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Agentic AI</a:t>
              </a:r>
              <a:r>
                <a:rPr lang="en-US" sz="3200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 reshape your work environment and decision-making processes in the next five years?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12796651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b="true" sz="8000" strike="noStrike" u="none">
                  <a:solidFill>
                    <a:srgbClr val="FFFFFF"/>
                  </a:solidFill>
                  <a:latin typeface="TT Commons Pro Expanded Bold"/>
                  <a:ea typeface="TT Commons Pro Expanded Bold"/>
                  <a:cs typeface="TT Commons Pro Expanded Bold"/>
                  <a:sym typeface="TT Commons Pro Expanded Bold"/>
                </a:rPr>
                <a:t>Thank You!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16250" y="25717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144500" y="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Agentic AI</dc:description>
  <dc:identifier>DAGoA4nHO3s</dc:identifier>
  <dcterms:modified xsi:type="dcterms:W3CDTF">2011-08-01T06:04:30Z</dcterms:modified>
  <cp:revision>1</cp:revision>
  <dc:title>Presentation - Agentic AI</dc:title>
</cp:coreProperties>
</file>